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开场播放短片《圈子从哪里来》：6 分 20 秒，1080p，无配音，中英双语字幕。上篇（00:00–03:09）讲为什么需要标签传播，下篇（03:09–05:43）分九层讲它怎样工作，最后讲现实中的用法。课堂时间紧时可分两次播放：先放上篇，讲完第 7–15 页再放下篇对照。</a:t>
            </a:r>
          </a:p>
          <a:p/>
          <a:p>
            <a:r>
              <a:t>配乐为用户指定的《We Never (Remix)（若如初见）》Hi Noise / 秋成，不属于本项目的开放许可。通讯录与 24 单元电路都是虚构的教学图。作者 Su3037。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短片 00:00。先问：打开手机通讯录，几百个名字，怎样分成几个圈子？我们不需要知道每个人是谁，只看谁和谁常联系。好的分组是圈内联系紧、圈与圈之间联系少。网络科学把这件事叫社群发现（community detection）。这里的 28 人和 61 条联系是虚构的教学数据，只用来解释图结构，不用来判断真实的人。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短片 00:34。Raghavan、Albert、Kumara 在 2007 年提出标签传播：每个人看看朋友们现在属于哪个圈子，加入联系最多的那一个，一遍遍重复，圈子自己浮现。右边的数字是项目算法在这张虚构通讯录上实际运行的结果（异步、最小标签平票）：3 轮停下，分成 8、10、10 三个圈子，跨圈只切开权重 4（总权重 238）。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短片 00:51。芯片有几百万个单元，由导线连成一张网。设计时，EDA 软件要先把它们分成几块：块内用短导线，跨块只能靠长导线。导线越长，信号越慢、越耗电，也占布线资源。所以目标和通讯录一样：块内紧，块间少。左图是 24 个单元、56 条连线的虚构电路，线越粗代表连接越强。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短片 01:25。按位置拿尺子切成三块（左中右各 8 个），会切断权重 88，全部才 202，将近一半。穷举也不行：24 个单元平分成三组已有 24!/(8!³·3!) = 1,577,585,295 种；一百万个单元分成三组约有 3^1,000,000/6 种，这个数字本身就有 477,121 位。两个数字都由项目脚本计算。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短片 01:59。把通讯录的规则借给芯片：每个单元看看邻居们现在的标签，加入连接最强的那一组。规则只有一句话，但留下六个问题。下面九页（第 7–15 页）对应短片下篇的九层，逐个回答。可以先让同学猜每个问题的答案。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短片下篇从这里开始（03:09）。老师的小图：节点名始终是 A–E。开始时每个点的标签就是自己的名字。名字是身份，永远不变；标签是归属，可以改写。后面会看到节点 A 携带标签 B，这不代表 A 改了名。边权是模型中连接的强弱，不是人数，也不自动对应现实的因果强度。孤立点没有邻居，永远保留自己的标签。图和权重来自教师指定的 tiny_graph，边权总和 18。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的邻居里，B 和 C 带标签 B（边权各 1），D 带标签 D（边权 4）。数人头，B 有两票；加权重，B 只有 1+1 = 2，D 有 4，所以 A 选 D。人多不一定赢。平票必须有明确规则：课堂默认取字典序最小的候选标签；没有邻居就不改。最大标签、保留当前优先也是可定义的平票方式；随机方式需要记录随机种子。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 A B C D E 异步访问，轮到 C 时 A、B 已经改为 B。C 读到 B 标签 1 + 4 = 5，D 标签 2，E 标签 1，于是改写为 B，名字仍是 C。一次更新只读这个点自己的边，不需要看到全局。不能讲成“选最粗的那条边”：B 赢是因为两条边的权重加在一起。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逐行讲第 1 轮。B 立刻读到 A 的新标签：每次更新立即写回，后面的节点读到前面刚产生的新值，这叫异步更新，是课堂默认。第 1 轮结束为 B B B E E，A、C、D 共 3 个节点改变。已经能看出两组，但还没有确认稳定。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轮重新检查 5 个节点，全部不变，才确认稳定，所以轮数是 2（包含确认轮）。只看“这一步没变”不够：后面的点一改，前面的点可能又要改。实现里有三种停止原因：stable（完整一轮没有改变）、cycle（完整状态再次出现）、limit（达到默认 50 轮的安全上限）。不能把 limit 写成已经收敛。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只看一条 A—B 边。同步：本轮全部节点只读本轮开始时的旧标签，轮末统一提交，于是 A/B 变 B/A，再变回 A/B，形成 2 周期振荡，永远停不下来；网页遇到完整状态重复会报告 cycle 并停止。异步：A 先更新为 B，B 读到 A 的新标签，两者一致，下一轮零变化。读取哪个时刻的邻居标签，会改变整个过程。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最终分组 {A,B,C} 与 {D,E}。跨组的是 CD 和 CE 两条边，加权 cutsize = 2 + 1 = 3：加的是权重，不是条数。原图总边权 18，分组规模 3:2，这里没有施加均衡约束。把 C–D 加强到 5，五个点合成一组；加强到 6 或更大（短片演示的是 10），C 被拉到 D、E 那一组，cutsize 变成 5。全放进一组时 cutsize = 0，但未必满足任务：cutsize 小不等于分得好。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 24 个单元，每个从自己的标签出发。颜色沿最强的连线扩散，第 5 轮零变化：三组各 8 个，只切开 2，尺子切开 88。每一轮通过邻接表累计票数，每条连线被两端各读一次，所以一轮的工作量和连线数成正比；整体耗时还取决于轮数、平票处理和输入。不要把论文“近线性时间”理解为任意图都固定几轮。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标签传播不保证分成几组（24 单元图恰好 3 组，老师的图是 2 组，没有参数能指定“分 3 组”），不保证每组一样大（老师的图是 3 + 2），受访问顺序影响，也不是全局最优：基本 LP 不是受约束的最小割求解器。下表是实际独立运行：倒序 E D C B A 得到 A A A D D，含确认轮共 3 轮；分组相同，标签名与过程不同。其他图、权重或规则也可能改变分组本身。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短片 05:43。在芯片设计中，聚类常用来先把紧密的单元收成团，让电路图变小（粗化），再交给更精细的划分、布局与布线；那里还要处理面积、时序、拥塞等约束。真实网表也可能采用超图模型。本实验不替代商业 EDA 流程。生活中的类比只解释图结构，不能据此判断个人本质或推出因果。结尾一句：没有人画圈，圈子从连接里长出来。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打开网页（地址见本页）。建议顺序：先在“九层讲解”里点按钮跳到短片对应时间；再进“闯关”，九关对应九层，外加两场 Boss；最后在自由实验台修改 C–D 权重、切换同步模式、比较访问顺序。不需要账号，算法在浏览器里运行，进度只存在本机。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来源完整链接见本页。教师文件没有独立开源许可声明，因此本项目不分发其课件、视频或课程私密资料，只引用事实与小图数据并注明来源。原创代码采用 MIT，原创教材、图解与视频画面采用 CC BY 4.0；第三方音乐、工具和字体保留原许可，见 THIRD_PARTY_NOTICES.md。</a:t>
            </a:r>
          </a:p>
          <a:p/>
          <a:p>
            <a:r>
              <a:t>资料：https://github.com/yongfu-li/eda-learning/tree/main/courses/learn_clustering/module02-01-label-propagation</a:t>
            </a:r>
          </a:p>
          <a:p>
            <a:r>
              <a:t>https://arxiv.org/abs/0709.2938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rcles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通讯录里的圈子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666750" y="2819400"/>
            <a:ext cx="1466850" cy="57150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33600" y="2876550"/>
            <a:ext cx="3733800" cy="132397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33600" y="2876550"/>
            <a:ext cx="1133475" cy="1847850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33600" y="2876550"/>
            <a:ext cx="3495675" cy="666750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133600" y="2333625"/>
            <a:ext cx="4800600" cy="542925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66750" y="2333625"/>
            <a:ext cx="6267450" cy="48577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14650" y="4391025"/>
            <a:ext cx="352425" cy="333375"/>
          </a:xfrm>
          <a:prstGeom prst="line">
            <a:avLst/>
          </a:prstGeom>
          <a:ln w="29051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914650" y="3543300"/>
            <a:ext cx="2714625" cy="847725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914650" y="2333625"/>
            <a:ext cx="4019550" cy="2057400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57575" y="3543300"/>
            <a:ext cx="2171700" cy="28575"/>
          </a:xfrm>
          <a:prstGeom prst="line">
            <a:avLst/>
          </a:prstGeom>
          <a:ln w="16193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57575" y="2333625"/>
            <a:ext cx="3476625" cy="1238250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267075" y="4200525"/>
            <a:ext cx="2600325" cy="523875"/>
          </a:xfrm>
          <a:prstGeom prst="line">
            <a:avLst/>
          </a:prstGeom>
          <a:ln w="29051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5629275" y="3543300"/>
            <a:ext cx="238125" cy="657225"/>
          </a:xfrm>
          <a:prstGeom prst="line">
            <a:avLst/>
          </a:prstGeom>
          <a:ln w="29051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66800" y="2571750"/>
            <a:ext cx="4667250" cy="2619375"/>
          </a:xfrm>
          <a:prstGeom prst="line">
            <a:avLst/>
          </a:prstGeom>
          <a:ln w="29051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962025" y="3867150"/>
            <a:ext cx="104775" cy="1323975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66800" y="4800600"/>
            <a:ext cx="1581150" cy="39052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724400" y="2571750"/>
            <a:ext cx="1009650" cy="2600325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095875" y="2571750"/>
            <a:ext cx="638175" cy="1000125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647950" y="2571750"/>
            <a:ext cx="3086100" cy="2228850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790950" y="2571750"/>
            <a:ext cx="1943100" cy="2476500"/>
          </a:xfrm>
          <a:prstGeom prst="line">
            <a:avLst/>
          </a:prstGeom>
          <a:ln w="16193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486150" y="4019550"/>
            <a:ext cx="1238250" cy="1152525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962025" y="3867150"/>
            <a:ext cx="3762375" cy="130492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4591050" y="3248025"/>
            <a:ext cx="133350" cy="1924050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724400" y="3571875"/>
            <a:ext cx="371475" cy="1600200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647950" y="4800600"/>
            <a:ext cx="2076450" cy="37147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790950" y="5048250"/>
            <a:ext cx="933450" cy="123825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62025" y="3867150"/>
            <a:ext cx="2524125" cy="152400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647950" y="4019550"/>
            <a:ext cx="838200" cy="781050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62025" y="3248025"/>
            <a:ext cx="3629025" cy="619125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62025" y="3571875"/>
            <a:ext cx="4133850" cy="29527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2025" y="3867150"/>
            <a:ext cx="2828925" cy="1181100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81075" y="3181350"/>
            <a:ext cx="3609975" cy="6667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647950" y="3248025"/>
            <a:ext cx="1943100" cy="1552575"/>
          </a:xfrm>
          <a:prstGeom prst="line">
            <a:avLst/>
          </a:prstGeom>
          <a:ln w="29051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790950" y="3571875"/>
            <a:ext cx="1304925" cy="147637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95375" y="2895600"/>
            <a:ext cx="2762250" cy="1847850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95375" y="3733800"/>
            <a:ext cx="3505200" cy="1009650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714375" y="4429125"/>
            <a:ext cx="381000" cy="31432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95375" y="3371850"/>
            <a:ext cx="361950" cy="1371600"/>
          </a:xfrm>
          <a:prstGeom prst="line">
            <a:avLst/>
          </a:prstGeom>
          <a:ln w="16193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95375" y="2933700"/>
            <a:ext cx="1619250" cy="1809750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95375" y="2800350"/>
            <a:ext cx="3343275" cy="1943100"/>
          </a:xfrm>
          <a:prstGeom prst="line">
            <a:avLst/>
          </a:prstGeom>
          <a:ln w="29051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95375" y="3819525"/>
            <a:ext cx="400050" cy="92392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857625" y="2895600"/>
            <a:ext cx="742950" cy="838200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714375" y="2895600"/>
            <a:ext cx="3143250" cy="153352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714625" y="2895600"/>
            <a:ext cx="1143000" cy="38100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857625" y="2895600"/>
            <a:ext cx="3095625" cy="2295525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14375" y="3733800"/>
            <a:ext cx="3886200" cy="695325"/>
          </a:xfrm>
          <a:prstGeom prst="line">
            <a:avLst/>
          </a:prstGeom>
          <a:ln w="16193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1457325" y="3371850"/>
            <a:ext cx="3143250" cy="361950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2333625" y="3733800"/>
            <a:ext cx="2266950" cy="704850"/>
          </a:xfrm>
          <a:prstGeom prst="line">
            <a:avLst/>
          </a:prstGeom>
          <a:ln w="16193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14375" y="3371850"/>
            <a:ext cx="742950" cy="1057275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14375" y="4429125"/>
            <a:ext cx="1619250" cy="9525"/>
          </a:xfrm>
          <a:prstGeom prst="line">
            <a:avLst/>
          </a:prstGeom>
          <a:ln w="16193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14375" y="2800350"/>
            <a:ext cx="3724275" cy="1628775"/>
          </a:xfrm>
          <a:prstGeom prst="line">
            <a:avLst/>
          </a:prstGeom>
          <a:ln w="16193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457325" y="2800350"/>
            <a:ext cx="2981325" cy="571500"/>
          </a:xfrm>
          <a:prstGeom prst="line">
            <a:avLst/>
          </a:prstGeom>
          <a:ln w="16193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457325" y="3371850"/>
            <a:ext cx="38100" cy="447675"/>
          </a:xfrm>
          <a:prstGeom prst="line">
            <a:avLst/>
          </a:prstGeom>
          <a:ln w="20479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714625" y="2800350"/>
            <a:ext cx="1724025" cy="133350"/>
          </a:xfrm>
          <a:prstGeom prst="line">
            <a:avLst/>
          </a:prstGeom>
          <a:ln w="29051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14625" y="2933700"/>
            <a:ext cx="4238625" cy="2257425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333625" y="2800350"/>
            <a:ext cx="2105025" cy="1638300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1495425" y="3819525"/>
            <a:ext cx="838200" cy="619125"/>
          </a:xfrm>
          <a:prstGeom prst="line">
            <a:avLst/>
          </a:prstGeom>
          <a:ln w="33338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457575" y="3571875"/>
            <a:ext cx="1143000" cy="161925"/>
          </a:xfrm>
          <a:prstGeom prst="line">
            <a:avLst/>
          </a:prstGeom>
          <a:ln w="11906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647950" y="3571875"/>
            <a:ext cx="809625" cy="1228725"/>
          </a:xfrm>
          <a:prstGeom prst="line">
            <a:avLst/>
          </a:prstGeom>
          <a:ln w="11906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66750" y="2819400"/>
            <a:ext cx="6286500" cy="2371725"/>
          </a:xfrm>
          <a:prstGeom prst="line">
            <a:avLst/>
          </a:prstGeom>
          <a:ln w="11906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934200" y="2333625"/>
            <a:ext cx="19050" cy="2857500"/>
          </a:xfrm>
          <a:prstGeom prst="line">
            <a:avLst/>
          </a:prstGeom>
          <a:ln w="11906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2057400" y="28003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52600" y="26003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妈妈</a:t>
            </a:r>
          </a:p>
        </p:txBody>
      </p:sp>
      <p:sp>
        <p:nvSpPr>
          <p:cNvPr id="67" name="Oval 66"/>
          <p:cNvSpPr/>
          <p:nvPr/>
        </p:nvSpPr>
        <p:spPr>
          <a:xfrm>
            <a:off x="590550" y="274320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5750" y="25431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爸爸</a:t>
            </a:r>
          </a:p>
        </p:txBody>
      </p:sp>
      <p:sp>
        <p:nvSpPr>
          <p:cNvPr id="69" name="Oval 68"/>
          <p:cNvSpPr/>
          <p:nvPr/>
        </p:nvSpPr>
        <p:spPr>
          <a:xfrm>
            <a:off x="2838450" y="43148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33650" y="41148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外婆</a:t>
            </a:r>
          </a:p>
        </p:txBody>
      </p:sp>
      <p:sp>
        <p:nvSpPr>
          <p:cNvPr id="71" name="Oval 70"/>
          <p:cNvSpPr/>
          <p:nvPr/>
        </p:nvSpPr>
        <p:spPr>
          <a:xfrm>
            <a:off x="3381375" y="34956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76575" y="32956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表姐</a:t>
            </a:r>
          </a:p>
        </p:txBody>
      </p:sp>
      <p:sp>
        <p:nvSpPr>
          <p:cNvPr id="73" name="Oval 72"/>
          <p:cNvSpPr/>
          <p:nvPr/>
        </p:nvSpPr>
        <p:spPr>
          <a:xfrm>
            <a:off x="5791200" y="41243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0" y="39243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舅舅</a:t>
            </a:r>
          </a:p>
        </p:txBody>
      </p:sp>
      <p:sp>
        <p:nvSpPr>
          <p:cNvPr id="75" name="Oval 74"/>
          <p:cNvSpPr/>
          <p:nvPr/>
        </p:nvSpPr>
        <p:spPr>
          <a:xfrm>
            <a:off x="3190875" y="464820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86075" y="44481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小姨</a:t>
            </a:r>
          </a:p>
        </p:txBody>
      </p:sp>
      <p:sp>
        <p:nvSpPr>
          <p:cNvPr id="77" name="Oval 76"/>
          <p:cNvSpPr/>
          <p:nvPr/>
        </p:nvSpPr>
        <p:spPr>
          <a:xfrm>
            <a:off x="5553075" y="346710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48275" y="32670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堂弟</a:t>
            </a:r>
          </a:p>
        </p:txBody>
      </p:sp>
      <p:sp>
        <p:nvSpPr>
          <p:cNvPr id="79" name="Oval 78"/>
          <p:cNvSpPr/>
          <p:nvPr/>
        </p:nvSpPr>
        <p:spPr>
          <a:xfrm>
            <a:off x="6858000" y="22574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53200" y="20574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姑姑</a:t>
            </a:r>
          </a:p>
        </p:txBody>
      </p:sp>
      <p:sp>
        <p:nvSpPr>
          <p:cNvPr id="81" name="Oval 80"/>
          <p:cNvSpPr/>
          <p:nvPr/>
        </p:nvSpPr>
        <p:spPr>
          <a:xfrm>
            <a:off x="990600" y="51149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5800" y="49149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阿杰</a:t>
            </a:r>
          </a:p>
        </p:txBody>
      </p:sp>
      <p:sp>
        <p:nvSpPr>
          <p:cNvPr id="83" name="Oval 82"/>
          <p:cNvSpPr/>
          <p:nvPr/>
        </p:nvSpPr>
        <p:spPr>
          <a:xfrm>
            <a:off x="5657850" y="24955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53050" y="22955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小雨</a:t>
            </a:r>
          </a:p>
        </p:txBody>
      </p:sp>
      <p:sp>
        <p:nvSpPr>
          <p:cNvPr id="85" name="Oval 84"/>
          <p:cNvSpPr/>
          <p:nvPr/>
        </p:nvSpPr>
        <p:spPr>
          <a:xfrm>
            <a:off x="4648200" y="50958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43400" y="48958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老周</a:t>
            </a:r>
          </a:p>
        </p:txBody>
      </p:sp>
      <p:sp>
        <p:nvSpPr>
          <p:cNvPr id="87" name="Oval 86"/>
          <p:cNvSpPr/>
          <p:nvPr/>
        </p:nvSpPr>
        <p:spPr>
          <a:xfrm>
            <a:off x="3409950" y="39433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105150" y="37433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班长</a:t>
            </a:r>
          </a:p>
        </p:txBody>
      </p:sp>
      <p:sp>
        <p:nvSpPr>
          <p:cNvPr id="89" name="Oval 88"/>
          <p:cNvSpPr/>
          <p:nvPr/>
        </p:nvSpPr>
        <p:spPr>
          <a:xfrm>
            <a:off x="885825" y="37909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1025" y="35909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婷婷</a:t>
            </a:r>
          </a:p>
        </p:txBody>
      </p:sp>
      <p:sp>
        <p:nvSpPr>
          <p:cNvPr id="91" name="Oval 90"/>
          <p:cNvSpPr/>
          <p:nvPr/>
        </p:nvSpPr>
        <p:spPr>
          <a:xfrm>
            <a:off x="904875" y="31051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0075" y="29051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大伟</a:t>
            </a:r>
          </a:p>
        </p:txBody>
      </p:sp>
      <p:sp>
        <p:nvSpPr>
          <p:cNvPr id="93" name="Oval 92"/>
          <p:cNvSpPr/>
          <p:nvPr/>
        </p:nvSpPr>
        <p:spPr>
          <a:xfrm>
            <a:off x="4514850" y="31718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10050" y="29718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小林</a:t>
            </a:r>
          </a:p>
        </p:txBody>
      </p:sp>
      <p:sp>
        <p:nvSpPr>
          <p:cNvPr id="95" name="Oval 94"/>
          <p:cNvSpPr/>
          <p:nvPr/>
        </p:nvSpPr>
        <p:spPr>
          <a:xfrm>
            <a:off x="5019675" y="34956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14875" y="32956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阿珍</a:t>
            </a:r>
          </a:p>
        </p:txBody>
      </p:sp>
      <p:sp>
        <p:nvSpPr>
          <p:cNvPr id="97" name="Oval 96"/>
          <p:cNvSpPr/>
          <p:nvPr/>
        </p:nvSpPr>
        <p:spPr>
          <a:xfrm>
            <a:off x="2571750" y="472440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266950" y="45243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浩子</a:t>
            </a:r>
          </a:p>
        </p:txBody>
      </p:sp>
      <p:sp>
        <p:nvSpPr>
          <p:cNvPr id="99" name="Oval 98"/>
          <p:cNvSpPr/>
          <p:nvPr/>
        </p:nvSpPr>
        <p:spPr>
          <a:xfrm>
            <a:off x="3714750" y="49720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409950" y="47720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晓明</a:t>
            </a:r>
          </a:p>
        </p:txBody>
      </p:sp>
      <p:sp>
        <p:nvSpPr>
          <p:cNvPr id="101" name="Oval 100"/>
          <p:cNvSpPr/>
          <p:nvPr/>
        </p:nvSpPr>
        <p:spPr>
          <a:xfrm>
            <a:off x="1019175" y="46672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14375" y="44672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王经理</a:t>
            </a:r>
          </a:p>
        </p:txBody>
      </p:sp>
      <p:sp>
        <p:nvSpPr>
          <p:cNvPr id="103" name="Oval 102"/>
          <p:cNvSpPr/>
          <p:nvPr/>
        </p:nvSpPr>
        <p:spPr>
          <a:xfrm>
            <a:off x="3781425" y="281940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76625" y="26193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李姐</a:t>
            </a:r>
          </a:p>
        </p:txBody>
      </p:sp>
      <p:sp>
        <p:nvSpPr>
          <p:cNvPr id="105" name="Oval 104"/>
          <p:cNvSpPr/>
          <p:nvPr/>
        </p:nvSpPr>
        <p:spPr>
          <a:xfrm>
            <a:off x="4524375" y="365760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19575" y="34575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小陈</a:t>
            </a:r>
          </a:p>
        </p:txBody>
      </p:sp>
      <p:sp>
        <p:nvSpPr>
          <p:cNvPr id="107" name="Oval 106"/>
          <p:cNvSpPr/>
          <p:nvPr/>
        </p:nvSpPr>
        <p:spPr>
          <a:xfrm>
            <a:off x="638175" y="43529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33375" y="41529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刘工</a:t>
            </a:r>
          </a:p>
        </p:txBody>
      </p:sp>
      <p:sp>
        <p:nvSpPr>
          <p:cNvPr id="109" name="Oval 108"/>
          <p:cNvSpPr/>
          <p:nvPr/>
        </p:nvSpPr>
        <p:spPr>
          <a:xfrm>
            <a:off x="1381125" y="32956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76325" y="30956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赵总</a:t>
            </a:r>
          </a:p>
        </p:txBody>
      </p:sp>
      <p:sp>
        <p:nvSpPr>
          <p:cNvPr id="111" name="Oval 110"/>
          <p:cNvSpPr/>
          <p:nvPr/>
        </p:nvSpPr>
        <p:spPr>
          <a:xfrm>
            <a:off x="2638425" y="285750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333625" y="26574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小孙</a:t>
            </a:r>
          </a:p>
        </p:txBody>
      </p:sp>
      <p:sp>
        <p:nvSpPr>
          <p:cNvPr id="113" name="Oval 112"/>
          <p:cNvSpPr/>
          <p:nvPr/>
        </p:nvSpPr>
        <p:spPr>
          <a:xfrm>
            <a:off x="2257425" y="43624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952625" y="41624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周姐</a:t>
            </a:r>
          </a:p>
        </p:txBody>
      </p:sp>
      <p:sp>
        <p:nvSpPr>
          <p:cNvPr id="115" name="Oval 114"/>
          <p:cNvSpPr/>
          <p:nvPr/>
        </p:nvSpPr>
        <p:spPr>
          <a:xfrm>
            <a:off x="4362450" y="27241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057650" y="25241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小马</a:t>
            </a:r>
          </a:p>
        </p:txBody>
      </p:sp>
      <p:sp>
        <p:nvSpPr>
          <p:cNvPr id="117" name="Oval 116"/>
          <p:cNvSpPr/>
          <p:nvPr/>
        </p:nvSpPr>
        <p:spPr>
          <a:xfrm>
            <a:off x="1419225" y="37433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14425" y="35433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何工</a:t>
            </a:r>
          </a:p>
        </p:txBody>
      </p:sp>
      <p:sp>
        <p:nvSpPr>
          <p:cNvPr id="119" name="Oval 118"/>
          <p:cNvSpPr/>
          <p:nvPr/>
        </p:nvSpPr>
        <p:spPr>
          <a:xfrm>
            <a:off x="6877050" y="51149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572250" y="49149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老吴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20000" y="161925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2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几百个名字，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20000" y="2047875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2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怎么分成几个圈子？</a:t>
            </a:r>
          </a:p>
        </p:txBody>
      </p:sp>
      <p:sp>
        <p:nvSpPr>
          <p:cNvPr id="123" name="Oval 122"/>
          <p:cNvSpPr/>
          <p:nvPr/>
        </p:nvSpPr>
        <p:spPr>
          <a:xfrm>
            <a:off x="7639050" y="3057144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848600" y="2952750"/>
            <a:ext cx="3771900" cy="2828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只看谁和谁常联系</a:t>
            </a:r>
          </a:p>
        </p:txBody>
      </p:sp>
      <p:sp>
        <p:nvSpPr>
          <p:cNvPr id="125" name="Oval 124"/>
          <p:cNvSpPr/>
          <p:nvPr/>
        </p:nvSpPr>
        <p:spPr>
          <a:xfrm>
            <a:off x="7639050" y="3528632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848600" y="3424238"/>
            <a:ext cx="3771900" cy="2828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好的分组：圈内紧，圈间少</a:t>
            </a:r>
          </a:p>
        </p:txBody>
      </p:sp>
      <p:sp>
        <p:nvSpPr>
          <p:cNvPr id="127" name="Oval 126"/>
          <p:cNvSpPr/>
          <p:nvPr/>
        </p:nvSpPr>
        <p:spPr>
          <a:xfrm>
            <a:off x="7639050" y="4000119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848600" y="3895725"/>
            <a:ext cx="3771900" cy="8486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这件事叫社群发现</a:t>
            </a:r>
          </a:p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community detection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00:00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一个极简的办法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04950" y="3371850"/>
            <a:ext cx="742950" cy="76200"/>
          </a:xfrm>
          <a:prstGeom prst="line">
            <a:avLst/>
          </a:prstGeom>
          <a:ln w="2476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04950" y="3371850"/>
            <a:ext cx="0" cy="1333500"/>
          </a:xfrm>
          <a:prstGeom prst="line">
            <a:avLst/>
          </a:prstGeom>
          <a:ln w="20479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52475" y="3371850"/>
            <a:ext cx="752475" cy="1266825"/>
          </a:xfrm>
          <a:prstGeom prst="line">
            <a:avLst/>
          </a:prstGeom>
          <a:ln w="33338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66750" y="3371850"/>
            <a:ext cx="838200" cy="666750"/>
          </a:xfrm>
          <a:prstGeom prst="line">
            <a:avLst/>
          </a:prstGeom>
          <a:ln w="2476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52475" y="3371850"/>
            <a:ext cx="752475" cy="76200"/>
          </a:xfrm>
          <a:prstGeom prst="line">
            <a:avLst/>
          </a:prstGeom>
          <a:ln w="33338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52475" y="3448050"/>
            <a:ext cx="1495425" cy="0"/>
          </a:xfrm>
          <a:prstGeom prst="line">
            <a:avLst/>
          </a:prstGeom>
          <a:ln w="20479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52475" y="4038600"/>
            <a:ext cx="1581150" cy="600075"/>
          </a:xfrm>
          <a:prstGeom prst="line">
            <a:avLst/>
          </a:prstGeom>
          <a:ln w="29051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66750" y="4038600"/>
            <a:ext cx="1666875" cy="0"/>
          </a:xfrm>
          <a:prstGeom prst="line">
            <a:avLst/>
          </a:prstGeom>
          <a:ln w="33338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752475" y="3448050"/>
            <a:ext cx="1581150" cy="590550"/>
          </a:xfrm>
          <a:prstGeom prst="line">
            <a:avLst/>
          </a:prstGeom>
          <a:ln w="20479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666750" y="4038600"/>
            <a:ext cx="1581150" cy="600075"/>
          </a:xfrm>
          <a:prstGeom prst="line">
            <a:avLst/>
          </a:prstGeom>
          <a:ln w="16193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752475" y="3448050"/>
            <a:ext cx="1495425" cy="1190625"/>
          </a:xfrm>
          <a:prstGeom prst="line">
            <a:avLst/>
          </a:prstGeom>
          <a:ln w="33338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52475" y="4638675"/>
            <a:ext cx="752475" cy="66675"/>
          </a:xfrm>
          <a:prstGeom prst="line">
            <a:avLst/>
          </a:prstGeom>
          <a:ln w="29051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666750" y="4038600"/>
            <a:ext cx="838200" cy="666750"/>
          </a:xfrm>
          <a:prstGeom prst="line">
            <a:avLst/>
          </a:prstGeom>
          <a:ln w="29051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724275" y="2581275"/>
            <a:ext cx="619125" cy="19050"/>
          </a:xfrm>
          <a:prstGeom prst="line">
            <a:avLst/>
          </a:prstGeom>
          <a:ln w="29051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24275" y="2600325"/>
            <a:ext cx="485775" cy="1200150"/>
          </a:xfrm>
          <a:prstGeom prst="line">
            <a:avLst/>
          </a:prstGeom>
          <a:ln w="33338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933700" y="2600325"/>
            <a:ext cx="790575" cy="457200"/>
          </a:xfrm>
          <a:prstGeom prst="line">
            <a:avLst/>
          </a:prstGeom>
          <a:ln w="20479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43400" y="2581275"/>
            <a:ext cx="171450" cy="476250"/>
          </a:xfrm>
          <a:prstGeom prst="line">
            <a:avLst/>
          </a:prstGeom>
          <a:ln w="33338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714625" y="2581275"/>
            <a:ext cx="1628775" cy="942975"/>
          </a:xfrm>
          <a:prstGeom prst="line">
            <a:avLst/>
          </a:prstGeom>
          <a:ln w="33338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933700" y="2581275"/>
            <a:ext cx="1409700" cy="476250"/>
          </a:xfrm>
          <a:prstGeom prst="line">
            <a:avLst/>
          </a:prstGeom>
          <a:ln w="33338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05150" y="2581275"/>
            <a:ext cx="1238250" cy="0"/>
          </a:xfrm>
          <a:prstGeom prst="line">
            <a:avLst/>
          </a:prstGeom>
          <a:ln w="16193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14850" y="3057525"/>
            <a:ext cx="219075" cy="466725"/>
          </a:xfrm>
          <a:prstGeom prst="line">
            <a:avLst/>
          </a:prstGeom>
          <a:ln w="33338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210050" y="3057525"/>
            <a:ext cx="304800" cy="742950"/>
          </a:xfrm>
          <a:prstGeom prst="line">
            <a:avLst/>
          </a:prstGeom>
          <a:ln w="20479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238500" y="3057525"/>
            <a:ext cx="1276350" cy="742950"/>
          </a:xfrm>
          <a:prstGeom prst="line">
            <a:avLst/>
          </a:prstGeom>
          <a:ln w="2476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714625" y="3057525"/>
            <a:ext cx="1800225" cy="466725"/>
          </a:xfrm>
          <a:prstGeom prst="line">
            <a:avLst/>
          </a:prstGeom>
          <a:ln w="33338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933700" y="3057525"/>
            <a:ext cx="1581150" cy="0"/>
          </a:xfrm>
          <a:prstGeom prst="line">
            <a:avLst/>
          </a:prstGeom>
          <a:ln w="20479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105150" y="2581275"/>
            <a:ext cx="1409700" cy="476250"/>
          </a:xfrm>
          <a:prstGeom prst="line">
            <a:avLst/>
          </a:prstGeom>
          <a:ln w="33338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210050" y="3524250"/>
            <a:ext cx="523875" cy="276225"/>
          </a:xfrm>
          <a:prstGeom prst="line">
            <a:avLst/>
          </a:prstGeom>
          <a:ln w="20479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933700" y="3057525"/>
            <a:ext cx="1800225" cy="466725"/>
          </a:xfrm>
          <a:prstGeom prst="line">
            <a:avLst/>
          </a:prstGeom>
          <a:ln w="2476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238500" y="3800475"/>
            <a:ext cx="971550" cy="0"/>
          </a:xfrm>
          <a:prstGeom prst="line">
            <a:avLst/>
          </a:prstGeom>
          <a:ln w="2476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2714625" y="3524250"/>
            <a:ext cx="1495425" cy="276225"/>
          </a:xfrm>
          <a:prstGeom prst="line">
            <a:avLst/>
          </a:prstGeom>
          <a:ln w="20479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105150" y="2581275"/>
            <a:ext cx="1104900" cy="1219200"/>
          </a:xfrm>
          <a:prstGeom prst="line">
            <a:avLst/>
          </a:prstGeom>
          <a:ln w="2476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3238500" y="3800475"/>
            <a:ext cx="485775" cy="304800"/>
          </a:xfrm>
          <a:prstGeom prst="line">
            <a:avLst/>
          </a:prstGeom>
          <a:ln w="20479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2933700" y="3057525"/>
            <a:ext cx="304800" cy="742950"/>
          </a:xfrm>
          <a:prstGeom prst="line">
            <a:avLst/>
          </a:prstGeom>
          <a:ln w="29051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714625" y="2581275"/>
            <a:ext cx="390525" cy="942975"/>
          </a:xfrm>
          <a:prstGeom prst="line">
            <a:avLst/>
          </a:prstGeom>
          <a:ln w="20479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43600" y="3419475"/>
            <a:ext cx="628650" cy="9525"/>
          </a:xfrm>
          <a:prstGeom prst="line">
            <a:avLst/>
          </a:prstGeom>
          <a:ln w="2476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943600" y="3429000"/>
            <a:ext cx="800100" cy="466725"/>
          </a:xfrm>
          <a:prstGeom prst="line">
            <a:avLst/>
          </a:prstGeom>
          <a:ln w="33338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43600" y="3429000"/>
            <a:ext cx="1009650" cy="933450"/>
          </a:xfrm>
          <a:prstGeom prst="line">
            <a:avLst/>
          </a:prstGeom>
          <a:ln w="20479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943600" y="3429000"/>
            <a:ext cx="495300" cy="1209675"/>
          </a:xfrm>
          <a:prstGeom prst="line">
            <a:avLst/>
          </a:prstGeom>
          <a:ln w="16193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43600" y="3429000"/>
            <a:ext cx="0" cy="1514475"/>
          </a:xfrm>
          <a:prstGeom prst="line">
            <a:avLst/>
          </a:prstGeom>
          <a:ln w="33338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943475" y="3429000"/>
            <a:ext cx="1000125" cy="933450"/>
          </a:xfrm>
          <a:prstGeom prst="line">
            <a:avLst/>
          </a:prstGeom>
          <a:ln w="29051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153025" y="3429000"/>
            <a:ext cx="790575" cy="466725"/>
          </a:xfrm>
          <a:prstGeom prst="line">
            <a:avLst/>
          </a:prstGeom>
          <a:ln w="20479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572250" y="3419475"/>
            <a:ext cx="171450" cy="476250"/>
          </a:xfrm>
          <a:prstGeom prst="line">
            <a:avLst/>
          </a:prstGeom>
          <a:ln w="20479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572250" y="3419475"/>
            <a:ext cx="381000" cy="942975"/>
          </a:xfrm>
          <a:prstGeom prst="line">
            <a:avLst/>
          </a:prstGeom>
          <a:ln w="20479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943600" y="3419475"/>
            <a:ext cx="628650" cy="1524000"/>
          </a:xfrm>
          <a:prstGeom prst="line">
            <a:avLst/>
          </a:prstGeom>
          <a:ln w="20479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5324475" y="3419475"/>
            <a:ext cx="1247775" cy="0"/>
          </a:xfrm>
          <a:prstGeom prst="line">
            <a:avLst/>
          </a:prstGeom>
          <a:ln w="33338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743700" y="3895725"/>
            <a:ext cx="209550" cy="466725"/>
          </a:xfrm>
          <a:prstGeom prst="line">
            <a:avLst/>
          </a:prstGeom>
          <a:ln w="16193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6438900" y="3895725"/>
            <a:ext cx="304800" cy="742950"/>
          </a:xfrm>
          <a:prstGeom prst="line">
            <a:avLst/>
          </a:prstGeom>
          <a:ln w="20479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5457825" y="3895725"/>
            <a:ext cx="1285875" cy="742950"/>
          </a:xfrm>
          <a:prstGeom prst="line">
            <a:avLst/>
          </a:prstGeom>
          <a:ln w="16193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6438900" y="4362450"/>
            <a:ext cx="514350" cy="276225"/>
          </a:xfrm>
          <a:prstGeom prst="line">
            <a:avLst/>
          </a:prstGeom>
          <a:ln w="33338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57825" y="4362450"/>
            <a:ext cx="1495425" cy="276225"/>
          </a:xfrm>
          <a:prstGeom prst="line">
            <a:avLst/>
          </a:prstGeom>
          <a:ln w="16193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4943475" y="4362450"/>
            <a:ext cx="2009775" cy="0"/>
          </a:xfrm>
          <a:prstGeom prst="line">
            <a:avLst/>
          </a:prstGeom>
          <a:ln w="16193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4943475" y="4362450"/>
            <a:ext cx="1495425" cy="276225"/>
          </a:xfrm>
          <a:prstGeom prst="line">
            <a:avLst/>
          </a:prstGeom>
          <a:ln w="16193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5153025" y="3895725"/>
            <a:ext cx="1285875" cy="742950"/>
          </a:xfrm>
          <a:prstGeom prst="line">
            <a:avLst/>
          </a:prstGeom>
          <a:ln w="20479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4943475" y="4362450"/>
            <a:ext cx="1000125" cy="581025"/>
          </a:xfrm>
          <a:prstGeom prst="line">
            <a:avLst/>
          </a:prstGeom>
          <a:ln w="29051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5324475" y="3419475"/>
            <a:ext cx="619125" cy="1524000"/>
          </a:xfrm>
          <a:prstGeom prst="line">
            <a:avLst/>
          </a:prstGeom>
          <a:ln w="2476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4943475" y="4362450"/>
            <a:ext cx="514350" cy="276225"/>
          </a:xfrm>
          <a:prstGeom prst="line">
            <a:avLst/>
          </a:prstGeom>
          <a:ln w="2476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5153025" y="3895725"/>
            <a:ext cx="304800" cy="742950"/>
          </a:xfrm>
          <a:prstGeom prst="line">
            <a:avLst/>
          </a:prstGeom>
          <a:ln w="33338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247900" y="3895725"/>
            <a:ext cx="4495800" cy="742950"/>
          </a:xfrm>
          <a:prstGeom prst="line">
            <a:avLst/>
          </a:prstGeom>
          <a:ln w="11906">
            <a:solidFill>
              <a:srgbClr val="2C3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247900" y="3057525"/>
            <a:ext cx="685800" cy="1581150"/>
          </a:xfrm>
          <a:prstGeom prst="line">
            <a:avLst/>
          </a:prstGeom>
          <a:ln w="11906">
            <a:solidFill>
              <a:srgbClr val="2C3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47900" y="3419475"/>
            <a:ext cx="3076575" cy="28575"/>
          </a:xfrm>
          <a:prstGeom prst="line">
            <a:avLst/>
          </a:prstGeom>
          <a:ln w="11906">
            <a:solidFill>
              <a:srgbClr val="2C3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52475" y="3419475"/>
            <a:ext cx="4572000" cy="28575"/>
          </a:xfrm>
          <a:prstGeom prst="line">
            <a:avLst/>
          </a:prstGeom>
          <a:ln w="11906">
            <a:solidFill>
              <a:srgbClr val="2C3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428750" y="32956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466850" y="3333750"/>
            <a:ext cx="76200" cy="7620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23950" y="30956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6A9E0"/>
                </a:solidFill>
                <a:latin typeface="PingFang SC"/>
                <a:ea typeface="PingFang SC"/>
                <a:cs typeface="PingFang SC"/>
              </a:rPr>
              <a:t>妈妈</a:t>
            </a:r>
          </a:p>
        </p:txBody>
      </p:sp>
      <p:sp>
        <p:nvSpPr>
          <p:cNvPr id="68" name="Oval 67"/>
          <p:cNvSpPr/>
          <p:nvPr/>
        </p:nvSpPr>
        <p:spPr>
          <a:xfrm>
            <a:off x="2171700" y="33718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209800" y="3409950"/>
            <a:ext cx="76200" cy="7620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66900" y="31718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6A9E0"/>
                </a:solidFill>
                <a:latin typeface="PingFang SC"/>
                <a:ea typeface="PingFang SC"/>
                <a:cs typeface="PingFang SC"/>
              </a:rPr>
              <a:t>爸爸</a:t>
            </a:r>
          </a:p>
        </p:txBody>
      </p:sp>
      <p:sp>
        <p:nvSpPr>
          <p:cNvPr id="71" name="Oval 70"/>
          <p:cNvSpPr/>
          <p:nvPr/>
        </p:nvSpPr>
        <p:spPr>
          <a:xfrm>
            <a:off x="2257425" y="396240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295525" y="4000500"/>
            <a:ext cx="76200" cy="7620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52625" y="37623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6A9E0"/>
                </a:solidFill>
                <a:latin typeface="PingFang SC"/>
                <a:ea typeface="PingFang SC"/>
                <a:cs typeface="PingFang SC"/>
              </a:rPr>
              <a:t>外婆</a:t>
            </a:r>
          </a:p>
        </p:txBody>
      </p:sp>
      <p:sp>
        <p:nvSpPr>
          <p:cNvPr id="74" name="Oval 73"/>
          <p:cNvSpPr/>
          <p:nvPr/>
        </p:nvSpPr>
        <p:spPr>
          <a:xfrm>
            <a:off x="2171700" y="45624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209800" y="4600575"/>
            <a:ext cx="76200" cy="7620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66900" y="43624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6A9E0"/>
                </a:solidFill>
                <a:latin typeface="PingFang SC"/>
                <a:ea typeface="PingFang SC"/>
                <a:cs typeface="PingFang SC"/>
              </a:rPr>
              <a:t>表姐</a:t>
            </a:r>
          </a:p>
        </p:txBody>
      </p:sp>
      <p:sp>
        <p:nvSpPr>
          <p:cNvPr id="77" name="Oval 76"/>
          <p:cNvSpPr/>
          <p:nvPr/>
        </p:nvSpPr>
        <p:spPr>
          <a:xfrm>
            <a:off x="1428750" y="46291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466850" y="4667250"/>
            <a:ext cx="76200" cy="7620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23950" y="44291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6A9E0"/>
                </a:solidFill>
                <a:latin typeface="PingFang SC"/>
                <a:ea typeface="PingFang SC"/>
                <a:cs typeface="PingFang SC"/>
              </a:rPr>
              <a:t>舅舅</a:t>
            </a:r>
          </a:p>
        </p:txBody>
      </p:sp>
      <p:sp>
        <p:nvSpPr>
          <p:cNvPr id="80" name="Oval 79"/>
          <p:cNvSpPr/>
          <p:nvPr/>
        </p:nvSpPr>
        <p:spPr>
          <a:xfrm>
            <a:off x="676275" y="45624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14375" y="4600575"/>
            <a:ext cx="76200" cy="7620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1475" y="43624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6A9E0"/>
                </a:solidFill>
                <a:latin typeface="PingFang SC"/>
                <a:ea typeface="PingFang SC"/>
                <a:cs typeface="PingFang SC"/>
              </a:rPr>
              <a:t>小姨</a:t>
            </a:r>
          </a:p>
        </p:txBody>
      </p:sp>
      <p:sp>
        <p:nvSpPr>
          <p:cNvPr id="83" name="Oval 82"/>
          <p:cNvSpPr/>
          <p:nvPr/>
        </p:nvSpPr>
        <p:spPr>
          <a:xfrm>
            <a:off x="590550" y="396240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28650" y="4000500"/>
            <a:ext cx="76200" cy="7620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5750" y="37623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6A9E0"/>
                </a:solidFill>
                <a:latin typeface="PingFang SC"/>
                <a:ea typeface="PingFang SC"/>
                <a:cs typeface="PingFang SC"/>
              </a:rPr>
              <a:t>堂弟</a:t>
            </a:r>
          </a:p>
        </p:txBody>
      </p:sp>
      <p:sp>
        <p:nvSpPr>
          <p:cNvPr id="86" name="Oval 85"/>
          <p:cNvSpPr/>
          <p:nvPr/>
        </p:nvSpPr>
        <p:spPr>
          <a:xfrm>
            <a:off x="676275" y="33718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14375" y="3409950"/>
            <a:ext cx="76200" cy="7620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71475" y="31718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86A9E0"/>
                </a:solidFill>
                <a:latin typeface="PingFang SC"/>
                <a:ea typeface="PingFang SC"/>
                <a:cs typeface="PingFang SC"/>
              </a:rPr>
              <a:t>姑姑</a:t>
            </a:r>
          </a:p>
        </p:txBody>
      </p:sp>
      <p:sp>
        <p:nvSpPr>
          <p:cNvPr id="89" name="Oval 88"/>
          <p:cNvSpPr/>
          <p:nvPr/>
        </p:nvSpPr>
        <p:spPr>
          <a:xfrm>
            <a:off x="3648075" y="25241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686175" y="2562225"/>
            <a:ext cx="76200" cy="7620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43275" y="23241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阿杰</a:t>
            </a:r>
          </a:p>
        </p:txBody>
      </p:sp>
      <p:sp>
        <p:nvSpPr>
          <p:cNvPr id="92" name="Oval 91"/>
          <p:cNvSpPr/>
          <p:nvPr/>
        </p:nvSpPr>
        <p:spPr>
          <a:xfrm>
            <a:off x="4267200" y="25050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05300" y="2543175"/>
            <a:ext cx="76200" cy="7620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62400" y="23050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小雨</a:t>
            </a:r>
          </a:p>
        </p:txBody>
      </p:sp>
      <p:sp>
        <p:nvSpPr>
          <p:cNvPr id="95" name="Oval 94"/>
          <p:cNvSpPr/>
          <p:nvPr/>
        </p:nvSpPr>
        <p:spPr>
          <a:xfrm>
            <a:off x="4438650" y="29813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476750" y="3019425"/>
            <a:ext cx="76200" cy="7620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33850" y="27813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老周</a:t>
            </a:r>
          </a:p>
        </p:txBody>
      </p:sp>
      <p:sp>
        <p:nvSpPr>
          <p:cNvPr id="98" name="Oval 97"/>
          <p:cNvSpPr/>
          <p:nvPr/>
        </p:nvSpPr>
        <p:spPr>
          <a:xfrm>
            <a:off x="4657725" y="34480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695825" y="3486150"/>
            <a:ext cx="76200" cy="7620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52925" y="32480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班长</a:t>
            </a:r>
          </a:p>
        </p:txBody>
      </p:sp>
      <p:sp>
        <p:nvSpPr>
          <p:cNvPr id="101" name="Oval 100"/>
          <p:cNvSpPr/>
          <p:nvPr/>
        </p:nvSpPr>
        <p:spPr>
          <a:xfrm>
            <a:off x="4133850" y="37242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171950" y="3762375"/>
            <a:ext cx="76200" cy="7620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829050" y="35242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婷婷</a:t>
            </a:r>
          </a:p>
        </p:txBody>
      </p:sp>
      <p:sp>
        <p:nvSpPr>
          <p:cNvPr id="104" name="Oval 103"/>
          <p:cNvSpPr/>
          <p:nvPr/>
        </p:nvSpPr>
        <p:spPr>
          <a:xfrm>
            <a:off x="3648075" y="40290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686175" y="4067175"/>
            <a:ext cx="76200" cy="7620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343275" y="38290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大伟</a:t>
            </a:r>
          </a:p>
        </p:txBody>
      </p:sp>
      <p:sp>
        <p:nvSpPr>
          <p:cNvPr id="107" name="Oval 106"/>
          <p:cNvSpPr/>
          <p:nvPr/>
        </p:nvSpPr>
        <p:spPr>
          <a:xfrm>
            <a:off x="3162300" y="37242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200400" y="3762375"/>
            <a:ext cx="76200" cy="7620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857500" y="35242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小林</a:t>
            </a:r>
          </a:p>
        </p:txBody>
      </p:sp>
      <p:sp>
        <p:nvSpPr>
          <p:cNvPr id="110" name="Oval 109"/>
          <p:cNvSpPr/>
          <p:nvPr/>
        </p:nvSpPr>
        <p:spPr>
          <a:xfrm>
            <a:off x="2638425" y="34480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676525" y="3486150"/>
            <a:ext cx="76200" cy="7620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333625" y="32480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阿珍</a:t>
            </a:r>
          </a:p>
        </p:txBody>
      </p:sp>
      <p:sp>
        <p:nvSpPr>
          <p:cNvPr id="113" name="Oval 112"/>
          <p:cNvSpPr/>
          <p:nvPr/>
        </p:nvSpPr>
        <p:spPr>
          <a:xfrm>
            <a:off x="2857500" y="29813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895600" y="3019425"/>
            <a:ext cx="76200" cy="7620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552700" y="27813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浩子</a:t>
            </a:r>
          </a:p>
        </p:txBody>
      </p:sp>
      <p:sp>
        <p:nvSpPr>
          <p:cNvPr id="116" name="Oval 115"/>
          <p:cNvSpPr/>
          <p:nvPr/>
        </p:nvSpPr>
        <p:spPr>
          <a:xfrm>
            <a:off x="3028950" y="25050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067050" y="2543175"/>
            <a:ext cx="76200" cy="7620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724150" y="23050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晓明</a:t>
            </a:r>
          </a:p>
        </p:txBody>
      </p:sp>
      <p:sp>
        <p:nvSpPr>
          <p:cNvPr id="119" name="Oval 118"/>
          <p:cNvSpPr/>
          <p:nvPr/>
        </p:nvSpPr>
        <p:spPr>
          <a:xfrm>
            <a:off x="5867400" y="335280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905500" y="3390900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562600" y="31527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王经理</a:t>
            </a:r>
          </a:p>
        </p:txBody>
      </p:sp>
      <p:sp>
        <p:nvSpPr>
          <p:cNvPr id="122" name="Oval 121"/>
          <p:cNvSpPr/>
          <p:nvPr/>
        </p:nvSpPr>
        <p:spPr>
          <a:xfrm>
            <a:off x="6496050" y="33432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534150" y="3381375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191250" y="31432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李姐</a:t>
            </a:r>
          </a:p>
        </p:txBody>
      </p:sp>
      <p:sp>
        <p:nvSpPr>
          <p:cNvPr id="125" name="Oval 124"/>
          <p:cNvSpPr/>
          <p:nvPr/>
        </p:nvSpPr>
        <p:spPr>
          <a:xfrm>
            <a:off x="6667500" y="38195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705600" y="3857625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362700" y="36195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小陈</a:t>
            </a:r>
          </a:p>
        </p:txBody>
      </p:sp>
      <p:sp>
        <p:nvSpPr>
          <p:cNvPr id="128" name="Oval 127"/>
          <p:cNvSpPr/>
          <p:nvPr/>
        </p:nvSpPr>
        <p:spPr>
          <a:xfrm>
            <a:off x="6877050" y="42862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915150" y="4324350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572250" y="40862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刘工</a:t>
            </a:r>
          </a:p>
        </p:txBody>
      </p:sp>
      <p:sp>
        <p:nvSpPr>
          <p:cNvPr id="131" name="Oval 130"/>
          <p:cNvSpPr/>
          <p:nvPr/>
        </p:nvSpPr>
        <p:spPr>
          <a:xfrm>
            <a:off x="6362700" y="45624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400800" y="4600575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057900" y="43624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赵总</a:t>
            </a:r>
          </a:p>
        </p:txBody>
      </p:sp>
      <p:sp>
        <p:nvSpPr>
          <p:cNvPr id="134" name="Oval 133"/>
          <p:cNvSpPr/>
          <p:nvPr/>
        </p:nvSpPr>
        <p:spPr>
          <a:xfrm>
            <a:off x="5867400" y="48672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905500" y="4905375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562600" y="46672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小孙</a:t>
            </a:r>
          </a:p>
        </p:txBody>
      </p:sp>
      <p:sp>
        <p:nvSpPr>
          <p:cNvPr id="137" name="Oval 136"/>
          <p:cNvSpPr/>
          <p:nvPr/>
        </p:nvSpPr>
        <p:spPr>
          <a:xfrm>
            <a:off x="5381625" y="45624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19725" y="4600575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076825" y="43624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周姐</a:t>
            </a:r>
          </a:p>
        </p:txBody>
      </p:sp>
      <p:sp>
        <p:nvSpPr>
          <p:cNvPr id="140" name="Oval 139"/>
          <p:cNvSpPr/>
          <p:nvPr/>
        </p:nvSpPr>
        <p:spPr>
          <a:xfrm>
            <a:off x="4867275" y="4286250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905375" y="4324350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562475" y="408622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小马</a:t>
            </a:r>
          </a:p>
        </p:txBody>
      </p:sp>
      <p:sp>
        <p:nvSpPr>
          <p:cNvPr id="143" name="Oval 142"/>
          <p:cNvSpPr/>
          <p:nvPr/>
        </p:nvSpPr>
        <p:spPr>
          <a:xfrm>
            <a:off x="5076825" y="381952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114925" y="3857625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772025" y="36195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何工</a:t>
            </a:r>
          </a:p>
        </p:txBody>
      </p:sp>
      <p:sp>
        <p:nvSpPr>
          <p:cNvPr id="146" name="Oval 145"/>
          <p:cNvSpPr/>
          <p:nvPr/>
        </p:nvSpPr>
        <p:spPr>
          <a:xfrm>
            <a:off x="5248275" y="3343275"/>
            <a:ext cx="152400" cy="1524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286375" y="3381375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943475" y="31432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975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老吴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620000" y="1524000"/>
            <a:ext cx="4000500" cy="857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7500"/>
              </a:lnSpc>
            </a:pPr>
            <a:r>
              <a:rPr sz="1725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每个人看看朋友们现在属于哪个圈子，</a:t>
            </a:r>
          </a:p>
          <a:p>
            <a:pPr algn="l">
              <a:lnSpc>
                <a:spcPct val="127500"/>
              </a:lnSpc>
            </a:pPr>
            <a:r>
              <a:rPr sz="1725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加入联系最多的那一个。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620000" y="249555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2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Raghavan · Albert · Kumara，2007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620000" y="3143250"/>
            <a:ext cx="19050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3000" b="1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3 轮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20000" y="36957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2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停下，没有人再改变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620250" y="3143250"/>
            <a:ext cx="200025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3000" b="1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8+10+10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620250" y="3695700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2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浮现出三个圈子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620000" y="4476750"/>
            <a:ext cx="40005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3000" b="1">
                <a:solidFill>
                  <a:srgbClr val="76CBB5"/>
                </a:solidFill>
                <a:latin typeface="Songti SC"/>
                <a:ea typeface="Songti SC"/>
                <a:cs typeface="Songti SC"/>
              </a:rPr>
              <a:t>只切开 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20000" y="502920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2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跨圈的联系，权重合计（共 238）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00:34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芯片里的同一个问题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66750" y="2220218"/>
            <a:ext cx="1453753" cy="422374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66750" y="2308622"/>
            <a:ext cx="2603004" cy="333970"/>
          </a:xfrm>
          <a:prstGeom prst="line">
            <a:avLst/>
          </a:prstGeom>
          <a:ln w="1905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6750" y="2642592"/>
            <a:ext cx="49113" cy="618828"/>
          </a:xfrm>
          <a:prstGeom prst="line">
            <a:avLst/>
          </a:prstGeom>
          <a:ln w="4191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6750" y="2642592"/>
            <a:ext cx="1286768" cy="775990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20503" y="2220218"/>
            <a:ext cx="1149251" cy="88404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20503" y="2220218"/>
            <a:ext cx="2210098" cy="599182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15863" y="2220218"/>
            <a:ext cx="1404640" cy="1041202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953518" y="2220218"/>
            <a:ext cx="166985" cy="1198364"/>
          </a:xfrm>
          <a:prstGeom prst="line">
            <a:avLst/>
          </a:prstGeom>
          <a:ln w="4191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69754" y="2308622"/>
            <a:ext cx="1060847" cy="510778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69754" y="2308622"/>
            <a:ext cx="2377083" cy="510778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15863" y="2308622"/>
            <a:ext cx="2553891" cy="952798"/>
          </a:xfrm>
          <a:prstGeom prst="line">
            <a:avLst/>
          </a:prstGeom>
          <a:ln w="1333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953518" y="2308622"/>
            <a:ext cx="1316236" cy="1109960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30601" y="2819400"/>
            <a:ext cx="1316236" cy="0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330601" y="2622947"/>
            <a:ext cx="2612826" cy="196453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15863" y="2819400"/>
            <a:ext cx="3614738" cy="442020"/>
          </a:xfrm>
          <a:prstGeom prst="line">
            <a:avLst/>
          </a:prstGeom>
          <a:ln w="1905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953518" y="2819400"/>
            <a:ext cx="2377083" cy="599182"/>
          </a:xfrm>
          <a:prstGeom prst="line">
            <a:avLst/>
          </a:prstGeom>
          <a:ln w="1333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646837" y="2622947"/>
            <a:ext cx="1296590" cy="196453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5863" y="3261420"/>
            <a:ext cx="1237655" cy="157162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171527" y="3320355"/>
            <a:ext cx="1384995" cy="29468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5331" y="3349823"/>
            <a:ext cx="2426196" cy="844749"/>
          </a:xfrm>
          <a:prstGeom prst="line">
            <a:avLst/>
          </a:prstGeom>
          <a:ln w="1905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012454" y="3349823"/>
            <a:ext cx="1159073" cy="658118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083123" y="3349823"/>
            <a:ext cx="88404" cy="962621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71527" y="3349823"/>
            <a:ext cx="1267123" cy="815281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56522" y="3261420"/>
            <a:ext cx="844748" cy="58935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56522" y="3320355"/>
            <a:ext cx="2396728" cy="108050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012454" y="3320355"/>
            <a:ext cx="2544068" cy="687586"/>
          </a:xfrm>
          <a:prstGeom prst="line">
            <a:avLst/>
          </a:prstGeom>
          <a:ln w="1905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083123" y="3320355"/>
            <a:ext cx="1473399" cy="992089"/>
          </a:xfrm>
          <a:prstGeom prst="line">
            <a:avLst/>
          </a:prstGeom>
          <a:ln w="1905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438650" y="3320355"/>
            <a:ext cx="117872" cy="844749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01270" y="3261420"/>
            <a:ext cx="1551980" cy="166985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4438650" y="3261420"/>
            <a:ext cx="962620" cy="903684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438650" y="3428405"/>
            <a:ext cx="2514600" cy="736699"/>
          </a:xfrm>
          <a:prstGeom prst="line">
            <a:avLst/>
          </a:prstGeom>
          <a:ln w="1905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45331" y="4007941"/>
            <a:ext cx="1267123" cy="186631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5331" y="4194572"/>
            <a:ext cx="2337792" cy="117872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12454" y="4007941"/>
            <a:ext cx="1070669" cy="304503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012454" y="4007941"/>
            <a:ext cx="2426196" cy="157163"/>
          </a:xfrm>
          <a:prstGeom prst="line">
            <a:avLst/>
          </a:prstGeom>
          <a:ln w="1905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83123" y="4165104"/>
            <a:ext cx="1355527" cy="147340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548610" y="4106168"/>
            <a:ext cx="1316236" cy="98227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179439" y="4106168"/>
            <a:ext cx="3369171" cy="805458"/>
          </a:xfrm>
          <a:prstGeom prst="line">
            <a:avLst/>
          </a:prstGeom>
          <a:ln w="1905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132237" y="4106168"/>
            <a:ext cx="2416373" cy="1198364"/>
          </a:xfrm>
          <a:prstGeom prst="line">
            <a:avLst/>
          </a:prstGeom>
          <a:ln w="1333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458295" y="4106168"/>
            <a:ext cx="1090315" cy="1168896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528965" y="4106168"/>
            <a:ext cx="19645" cy="726877"/>
          </a:xfrm>
          <a:prstGeom prst="line">
            <a:avLst/>
          </a:prstGeom>
          <a:ln w="4191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548610" y="4106168"/>
            <a:ext cx="1139428" cy="805458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132237" y="4204395"/>
            <a:ext cx="3732609" cy="1100137"/>
          </a:xfrm>
          <a:prstGeom prst="line">
            <a:avLst/>
          </a:prstGeom>
          <a:ln w="1333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528965" y="4204395"/>
            <a:ext cx="1335881" cy="628650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688038" y="4204395"/>
            <a:ext cx="176808" cy="707231"/>
          </a:xfrm>
          <a:prstGeom prst="line">
            <a:avLst/>
          </a:prstGeom>
          <a:ln w="4191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15863" y="4911626"/>
            <a:ext cx="1463576" cy="117872"/>
          </a:xfrm>
          <a:prstGeom prst="line">
            <a:avLst/>
          </a:prstGeom>
          <a:ln w="4191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5863" y="5029498"/>
            <a:ext cx="2416374" cy="275034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79439" y="4911626"/>
            <a:ext cx="952798" cy="392906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179439" y="4911626"/>
            <a:ext cx="2278856" cy="363438"/>
          </a:xfrm>
          <a:prstGeom prst="line">
            <a:avLst/>
          </a:prstGeom>
          <a:ln w="1905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132237" y="5275064"/>
            <a:ext cx="1326058" cy="29468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32237" y="4833045"/>
            <a:ext cx="2396728" cy="471487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58295" y="4833045"/>
            <a:ext cx="1070670" cy="442019"/>
          </a:xfrm>
          <a:prstGeom prst="line">
            <a:avLst/>
          </a:prstGeom>
          <a:ln w="30480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458295" y="4911626"/>
            <a:ext cx="2229743" cy="363438"/>
          </a:xfrm>
          <a:prstGeom prst="line">
            <a:avLst/>
          </a:prstGeom>
          <a:ln w="2476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528965" y="4833045"/>
            <a:ext cx="1159073" cy="78581"/>
          </a:xfrm>
          <a:prstGeom prst="line">
            <a:avLst/>
          </a:prstGeom>
          <a:ln w="3619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53518" y="3418582"/>
            <a:ext cx="58936" cy="589359"/>
          </a:xfrm>
          <a:prstGeom prst="line">
            <a:avLst/>
          </a:prstGeom>
          <a:ln w="1333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38650" y="4165104"/>
            <a:ext cx="19645" cy="1109960"/>
          </a:xfrm>
          <a:prstGeom prst="line">
            <a:avLst/>
          </a:prstGeom>
          <a:ln w="13335">
            <a:solidFill>
              <a:srgbClr val="3D4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71500" y="254734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025253" y="2124968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174504" y="221337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35351" y="272415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551587" y="272415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48177" y="2527697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0613" y="316617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58268" y="332333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076277" y="3254573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461272" y="322510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020" y="316617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58000" y="333315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50081" y="409932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917204" y="3912691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987873" y="4217194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343400" y="4069854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453360" y="4010918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769596" y="410914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20613" y="4934248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084189" y="4816376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036987" y="520928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363045" y="5179814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433715" y="473779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592788" y="4816376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F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20000" y="161925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2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几百万个单元，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20000" y="2047875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2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由导线连成一张网。</a:t>
            </a:r>
          </a:p>
        </p:txBody>
      </p:sp>
      <p:sp>
        <p:nvSpPr>
          <p:cNvPr id="86" name="Oval 85"/>
          <p:cNvSpPr/>
          <p:nvPr/>
        </p:nvSpPr>
        <p:spPr>
          <a:xfrm>
            <a:off x="7639050" y="3057144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48600" y="2952750"/>
            <a:ext cx="3771900" cy="2828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块内：短导线</a:t>
            </a:r>
          </a:p>
        </p:txBody>
      </p:sp>
      <p:sp>
        <p:nvSpPr>
          <p:cNvPr id="88" name="Oval 87"/>
          <p:cNvSpPr/>
          <p:nvPr/>
        </p:nvSpPr>
        <p:spPr>
          <a:xfrm>
            <a:off x="7639050" y="3528632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48600" y="3424238"/>
            <a:ext cx="3771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块间：长导线，更慢、更耗电，</a:t>
            </a:r>
          </a:p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也占布线资源</a:t>
            </a:r>
          </a:p>
        </p:txBody>
      </p:sp>
      <p:sp>
        <p:nvSpPr>
          <p:cNvPr id="90" name="Oval 89"/>
          <p:cNvSpPr/>
          <p:nvPr/>
        </p:nvSpPr>
        <p:spPr>
          <a:xfrm>
            <a:off x="7639050" y="4283012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48600" y="4178618"/>
            <a:ext cx="3771900" cy="5657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目标和通讯录一样：</a:t>
            </a:r>
          </a:p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块内紧，块间少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00:51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尺子与穷举都不行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66750" y="2220218"/>
            <a:ext cx="1453753" cy="422374"/>
          </a:xfrm>
          <a:prstGeom prst="line">
            <a:avLst/>
          </a:prstGeom>
          <a:ln w="3619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66750" y="2308622"/>
            <a:ext cx="2603004" cy="333970"/>
          </a:xfrm>
          <a:prstGeom prst="line">
            <a:avLst/>
          </a:prstGeom>
          <a:ln w="20955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6750" y="2642592"/>
            <a:ext cx="49113" cy="618828"/>
          </a:xfrm>
          <a:prstGeom prst="line">
            <a:avLst/>
          </a:prstGeom>
          <a:ln w="41910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6750" y="2642592"/>
            <a:ext cx="1286768" cy="775990"/>
          </a:xfrm>
          <a:prstGeom prst="line">
            <a:avLst/>
          </a:prstGeom>
          <a:ln w="2476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20503" y="2220218"/>
            <a:ext cx="1149251" cy="88404"/>
          </a:xfrm>
          <a:prstGeom prst="line">
            <a:avLst/>
          </a:prstGeom>
          <a:ln w="3048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20503" y="2220218"/>
            <a:ext cx="2210098" cy="599182"/>
          </a:xfrm>
          <a:prstGeom prst="line">
            <a:avLst/>
          </a:prstGeom>
          <a:ln w="25718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15863" y="2220218"/>
            <a:ext cx="1404640" cy="1041202"/>
          </a:xfrm>
          <a:prstGeom prst="line">
            <a:avLst/>
          </a:prstGeom>
          <a:ln w="30480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953518" y="2220218"/>
            <a:ext cx="166985" cy="1198364"/>
          </a:xfrm>
          <a:prstGeom prst="line">
            <a:avLst/>
          </a:prstGeom>
          <a:ln w="41910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69754" y="2308622"/>
            <a:ext cx="1060847" cy="510778"/>
          </a:xfrm>
          <a:prstGeom prst="line">
            <a:avLst/>
          </a:prstGeom>
          <a:ln w="3619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69754" y="2308622"/>
            <a:ext cx="2377083" cy="510778"/>
          </a:xfrm>
          <a:prstGeom prst="line">
            <a:avLst/>
          </a:prstGeom>
          <a:ln w="25718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15863" y="2308622"/>
            <a:ext cx="2553891" cy="952798"/>
          </a:xfrm>
          <a:prstGeom prst="line">
            <a:avLst/>
          </a:prstGeom>
          <a:ln w="16192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953518" y="2308622"/>
            <a:ext cx="1316236" cy="1109960"/>
          </a:xfrm>
          <a:prstGeom prst="line">
            <a:avLst/>
          </a:prstGeom>
          <a:ln w="25718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30601" y="2819400"/>
            <a:ext cx="1316236" cy="0"/>
          </a:xfrm>
          <a:prstGeom prst="line">
            <a:avLst/>
          </a:prstGeom>
          <a:ln w="35242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330601" y="2622947"/>
            <a:ext cx="2612826" cy="196453"/>
          </a:xfrm>
          <a:prstGeom prst="line">
            <a:avLst/>
          </a:prstGeom>
          <a:ln w="25718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15863" y="2819400"/>
            <a:ext cx="3614738" cy="442020"/>
          </a:xfrm>
          <a:prstGeom prst="line">
            <a:avLst/>
          </a:prstGeom>
          <a:ln w="20955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953518" y="2819400"/>
            <a:ext cx="2377083" cy="599182"/>
          </a:xfrm>
          <a:prstGeom prst="line">
            <a:avLst/>
          </a:prstGeom>
          <a:ln w="16192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646837" y="2622947"/>
            <a:ext cx="1296590" cy="196453"/>
          </a:xfrm>
          <a:prstGeom prst="line">
            <a:avLst/>
          </a:prstGeom>
          <a:ln w="3619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5863" y="3261420"/>
            <a:ext cx="1237655" cy="157162"/>
          </a:xfrm>
          <a:prstGeom prst="line">
            <a:avLst/>
          </a:prstGeom>
          <a:ln w="3619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171527" y="3320355"/>
            <a:ext cx="1384995" cy="29468"/>
          </a:xfrm>
          <a:prstGeom prst="line">
            <a:avLst/>
          </a:prstGeom>
          <a:ln w="3619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5331" y="3349823"/>
            <a:ext cx="2426196" cy="844749"/>
          </a:xfrm>
          <a:prstGeom prst="line">
            <a:avLst/>
          </a:prstGeom>
          <a:ln w="20955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012454" y="3349823"/>
            <a:ext cx="1159073" cy="658118"/>
          </a:xfrm>
          <a:prstGeom prst="line">
            <a:avLst/>
          </a:prstGeom>
          <a:ln w="25718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083123" y="3349823"/>
            <a:ext cx="88404" cy="962621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71527" y="3349823"/>
            <a:ext cx="1267123" cy="815281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56522" y="3261420"/>
            <a:ext cx="844748" cy="58935"/>
          </a:xfrm>
          <a:prstGeom prst="line">
            <a:avLst/>
          </a:prstGeom>
          <a:ln w="3048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56522" y="3320355"/>
            <a:ext cx="2396728" cy="108050"/>
          </a:xfrm>
          <a:prstGeom prst="line">
            <a:avLst/>
          </a:prstGeom>
          <a:ln w="3048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012454" y="3320355"/>
            <a:ext cx="2544068" cy="687586"/>
          </a:xfrm>
          <a:prstGeom prst="line">
            <a:avLst/>
          </a:prstGeom>
          <a:ln w="20955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083123" y="3320355"/>
            <a:ext cx="1473399" cy="992089"/>
          </a:xfrm>
          <a:prstGeom prst="line">
            <a:avLst/>
          </a:prstGeom>
          <a:ln w="1905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438650" y="3320355"/>
            <a:ext cx="117872" cy="844749"/>
          </a:xfrm>
          <a:prstGeom prst="line">
            <a:avLst/>
          </a:prstGeom>
          <a:ln w="3619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01270" y="3261420"/>
            <a:ext cx="1551980" cy="166985"/>
          </a:xfrm>
          <a:prstGeom prst="line">
            <a:avLst/>
          </a:prstGeom>
          <a:ln w="3619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4438650" y="3261420"/>
            <a:ext cx="962620" cy="903684"/>
          </a:xfrm>
          <a:prstGeom prst="line">
            <a:avLst/>
          </a:prstGeom>
          <a:ln w="3048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438650" y="3428405"/>
            <a:ext cx="2514600" cy="736699"/>
          </a:xfrm>
          <a:prstGeom prst="line">
            <a:avLst/>
          </a:prstGeom>
          <a:ln w="20955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45331" y="4007941"/>
            <a:ext cx="1267123" cy="186631"/>
          </a:xfrm>
          <a:prstGeom prst="line">
            <a:avLst/>
          </a:prstGeom>
          <a:ln w="3619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5331" y="4194572"/>
            <a:ext cx="2337792" cy="117872"/>
          </a:xfrm>
          <a:prstGeom prst="line">
            <a:avLst/>
          </a:prstGeom>
          <a:ln w="3048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12454" y="4007941"/>
            <a:ext cx="1070669" cy="304503"/>
          </a:xfrm>
          <a:prstGeom prst="line">
            <a:avLst/>
          </a:prstGeom>
          <a:ln w="3048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012454" y="4007941"/>
            <a:ext cx="2426196" cy="157163"/>
          </a:xfrm>
          <a:prstGeom prst="line">
            <a:avLst/>
          </a:prstGeom>
          <a:ln w="20955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83123" y="4165104"/>
            <a:ext cx="1355527" cy="147340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548610" y="4106168"/>
            <a:ext cx="1316236" cy="98227"/>
          </a:xfrm>
          <a:prstGeom prst="line">
            <a:avLst/>
          </a:prstGeom>
          <a:ln w="3619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179439" y="4106168"/>
            <a:ext cx="3369171" cy="805458"/>
          </a:xfrm>
          <a:prstGeom prst="line">
            <a:avLst/>
          </a:prstGeom>
          <a:ln w="20955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132237" y="4106168"/>
            <a:ext cx="2416373" cy="1198364"/>
          </a:xfrm>
          <a:prstGeom prst="line">
            <a:avLst/>
          </a:prstGeom>
          <a:ln w="16192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458295" y="4106168"/>
            <a:ext cx="1090315" cy="1168896"/>
          </a:xfrm>
          <a:prstGeom prst="line">
            <a:avLst/>
          </a:prstGeom>
          <a:ln w="3048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528965" y="4106168"/>
            <a:ext cx="19645" cy="726877"/>
          </a:xfrm>
          <a:prstGeom prst="line">
            <a:avLst/>
          </a:prstGeom>
          <a:ln w="4191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548610" y="4106168"/>
            <a:ext cx="1139428" cy="805458"/>
          </a:xfrm>
          <a:prstGeom prst="line">
            <a:avLst/>
          </a:prstGeom>
          <a:ln w="3048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132237" y="4204395"/>
            <a:ext cx="3732609" cy="1100137"/>
          </a:xfrm>
          <a:prstGeom prst="line">
            <a:avLst/>
          </a:prstGeom>
          <a:ln w="16192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528965" y="4204395"/>
            <a:ext cx="1335881" cy="628650"/>
          </a:xfrm>
          <a:prstGeom prst="line">
            <a:avLst/>
          </a:prstGeom>
          <a:ln w="2476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688038" y="4204395"/>
            <a:ext cx="176808" cy="707231"/>
          </a:xfrm>
          <a:prstGeom prst="line">
            <a:avLst/>
          </a:prstGeom>
          <a:ln w="4191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15863" y="4911626"/>
            <a:ext cx="1463576" cy="117872"/>
          </a:xfrm>
          <a:prstGeom prst="line">
            <a:avLst/>
          </a:prstGeom>
          <a:ln w="41910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5863" y="5029498"/>
            <a:ext cx="2416374" cy="275034"/>
          </a:xfrm>
          <a:prstGeom prst="line">
            <a:avLst/>
          </a:prstGeom>
          <a:ln w="3048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79439" y="4911626"/>
            <a:ext cx="952798" cy="392906"/>
          </a:xfrm>
          <a:prstGeom prst="line">
            <a:avLst/>
          </a:prstGeom>
          <a:ln w="35242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179439" y="4911626"/>
            <a:ext cx="2278856" cy="363438"/>
          </a:xfrm>
          <a:prstGeom prst="line">
            <a:avLst/>
          </a:prstGeom>
          <a:ln w="20955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132237" y="5275064"/>
            <a:ext cx="1326058" cy="29468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32237" y="4833045"/>
            <a:ext cx="2396728" cy="471487"/>
          </a:xfrm>
          <a:prstGeom prst="line">
            <a:avLst/>
          </a:prstGeom>
          <a:ln w="3048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58295" y="4833045"/>
            <a:ext cx="1070670" cy="442019"/>
          </a:xfrm>
          <a:prstGeom prst="line">
            <a:avLst/>
          </a:prstGeom>
          <a:ln w="3048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458295" y="4911626"/>
            <a:ext cx="2229743" cy="363438"/>
          </a:xfrm>
          <a:prstGeom prst="line">
            <a:avLst/>
          </a:prstGeom>
          <a:ln w="25718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528965" y="4833045"/>
            <a:ext cx="1159073" cy="78581"/>
          </a:xfrm>
          <a:prstGeom prst="line">
            <a:avLst/>
          </a:prstGeom>
          <a:ln w="3619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53518" y="3418582"/>
            <a:ext cx="58936" cy="589359"/>
          </a:xfrm>
          <a:prstGeom prst="line">
            <a:avLst/>
          </a:prstGeom>
          <a:ln w="1333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38650" y="4165104"/>
            <a:ext cx="19645" cy="1109960"/>
          </a:xfrm>
          <a:prstGeom prst="line">
            <a:avLst/>
          </a:prstGeom>
          <a:ln w="1333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71500" y="254734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19125" y="2594967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025253" y="2124968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072878" y="2172593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174504" y="221337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22129" y="2260997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235351" y="272415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282976" y="2771775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551587" y="272415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99212" y="2771775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848177" y="2527697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95802" y="2575322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0613" y="316617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238" y="3213795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858268" y="332333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905893" y="3370957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076277" y="3254573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123902" y="3302198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1272" y="322510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08897" y="3272730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020" y="316617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53645" y="3213795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858000" y="333315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905625" y="3380780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50081" y="409932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97706" y="4146947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917204" y="3912691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964829" y="3960316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987873" y="4217194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035498" y="4264819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343400" y="4069854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91025" y="4117479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453360" y="4010918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500985" y="4058543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769596" y="410914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817221" y="4156770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20613" y="4934248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68238" y="4981873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084189" y="4816376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131814" y="4864001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036987" y="520928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084612" y="5256907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363045" y="5179814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410670" y="5227439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433715" y="473779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1340" y="4785420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592788" y="4816376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640413" y="4864001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000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按位置拿尺子切三块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20000" y="186690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3450" b="1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切开 88 / 202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20000" y="257175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将近一半的连接被切断（金色）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620000" y="3143250"/>
            <a:ext cx="3962400" cy="0"/>
          </a:xfrm>
          <a:prstGeom prst="line">
            <a:avLst/>
          </a:prstGeom>
          <a:ln w="9525">
            <a:solidFill>
              <a:srgbClr val="2441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620000" y="33528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试遍所有分法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20000" y="373380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2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24 个单元：15.8 亿种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20000" y="419100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2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24!/(8!³·3!) = 1,577,585,295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0000" y="470535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2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一百万个单元：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20000" y="514350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2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分法个数约 3^1,000,000/6，本身就有 477,121 位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01:25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一条局部规则，六个问题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09600" y="1428750"/>
            <a:ext cx="10972800" cy="1238250"/>
          </a:xfrm>
          <a:prstGeom prst="roundRect">
            <a:avLst>
              <a:gd name="adj" fmla="val 10769"/>
            </a:avLst>
          </a:prstGeom>
          <a:solidFill>
            <a:srgbClr val="0D222C"/>
          </a:solidFill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" y="163830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3250"/>
              </a:lnSpc>
            </a:pPr>
            <a:r>
              <a:rPr sz="2400" b="0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每个点看看邻居们现在的标签，</a:t>
            </a:r>
          </a:p>
          <a:p>
            <a:pPr algn="l">
              <a:lnSpc>
                <a:spcPct val="123250"/>
              </a:lnSpc>
            </a:pPr>
            <a:r>
              <a:rPr sz="2400" b="0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加入连接最强的那一组。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3048000"/>
            <a:ext cx="3467100" cy="1200150"/>
          </a:xfrm>
          <a:prstGeom prst="roundRect">
            <a:avLst>
              <a:gd name="adj" fmla="val 9523"/>
            </a:avLst>
          </a:prstGeom>
          <a:noFill/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325755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9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“最强”怎么算？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719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→ 第 2 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5300" y="3048000"/>
            <a:ext cx="3467100" cy="1200150"/>
          </a:xfrm>
          <a:prstGeom prst="roundRect">
            <a:avLst>
              <a:gd name="adj" fmla="val 9523"/>
            </a:avLst>
          </a:prstGeom>
          <a:noFill/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900" y="325755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9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谁先更新？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37719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→ 第 4、6 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048000"/>
            <a:ext cx="3467100" cy="1200150"/>
          </a:xfrm>
          <a:prstGeom prst="roundRect">
            <a:avLst>
              <a:gd name="adj" fmla="val 9523"/>
            </a:avLst>
          </a:prstGeom>
          <a:noFill/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25755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9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什么时候停？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7719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→ 第 5 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4476750"/>
            <a:ext cx="3467100" cy="1200150"/>
          </a:xfrm>
          <a:prstGeom prst="roundRect">
            <a:avLst>
              <a:gd name="adj" fmla="val 9523"/>
            </a:avLst>
          </a:prstGeom>
          <a:noFill/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68630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9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它一定会停吗？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2006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→ 第 6 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5300" y="4476750"/>
            <a:ext cx="3467100" cy="1200150"/>
          </a:xfrm>
          <a:prstGeom prst="roundRect">
            <a:avLst>
              <a:gd name="adj" fmla="val 9523"/>
            </a:avLst>
          </a:prstGeom>
          <a:noFill/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3900" y="468630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9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平票怎么办？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900" y="52006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→ 第 2 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476750"/>
            <a:ext cx="3467100" cy="1200150"/>
          </a:xfrm>
          <a:prstGeom prst="roundRect">
            <a:avLst>
              <a:gd name="adj" fmla="val 9523"/>
            </a:avLst>
          </a:prstGeom>
          <a:noFill/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68630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9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分得好不好？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2006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→ 第 7、8 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01:59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第 1 层 · 标签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428750" y="1905000"/>
            <a:ext cx="2286000" cy="476250"/>
          </a:xfrm>
          <a:prstGeom prst="line">
            <a:avLst/>
          </a:prstGeom>
          <a:ln w="4762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428875" y="2000250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8875" y="2009775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28750" y="2381250"/>
            <a:ext cx="1524000" cy="1476375"/>
          </a:xfrm>
          <a:prstGeom prst="line">
            <a:avLst/>
          </a:prstGeom>
          <a:ln w="2095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047875" y="2976562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47875" y="2986088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952750" y="1905000"/>
            <a:ext cx="762000" cy="1952625"/>
          </a:xfrm>
          <a:prstGeom prst="line">
            <a:avLst/>
          </a:prstGeom>
          <a:ln w="40958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190875" y="2738438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0875" y="2747962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52750" y="3857625"/>
            <a:ext cx="2952750" cy="142875"/>
          </a:xfrm>
          <a:prstGeom prst="line">
            <a:avLst/>
          </a:prstGeom>
          <a:ln w="27622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286250" y="3786188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795712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810125" y="4000500"/>
            <a:ext cx="1095375" cy="1571625"/>
          </a:xfrm>
          <a:prstGeom prst="line">
            <a:avLst/>
          </a:prstGeom>
          <a:ln w="4762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214938" y="4643438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4938" y="4652962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52750" y="3857625"/>
            <a:ext cx="1857375" cy="1714500"/>
          </a:xfrm>
          <a:prstGeom prst="line">
            <a:avLst/>
          </a:prstGeom>
          <a:ln w="2095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738562" y="4572000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8562" y="4581525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1123950" y="207645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3950" y="217170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9650" y="276225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2D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650" y="277177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标签 A</a:t>
            </a:r>
          </a:p>
        </p:txBody>
      </p:sp>
      <p:sp>
        <p:nvSpPr>
          <p:cNvPr id="26" name="Oval 25"/>
          <p:cNvSpPr/>
          <p:nvPr/>
        </p:nvSpPr>
        <p:spPr>
          <a:xfrm>
            <a:off x="3409950" y="160020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9950" y="169545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5650" y="22860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1A3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5650" y="229552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标签 B</a:t>
            </a:r>
          </a:p>
        </p:txBody>
      </p:sp>
      <p:sp>
        <p:nvSpPr>
          <p:cNvPr id="30" name="Oval 29"/>
          <p:cNvSpPr/>
          <p:nvPr/>
        </p:nvSpPr>
        <p:spPr>
          <a:xfrm>
            <a:off x="2647950" y="3552825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D9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47950" y="3648075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33650" y="4238625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2C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33650" y="4248150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D99A9A"/>
                </a:solidFill>
                <a:latin typeface="PingFang SC"/>
                <a:ea typeface="PingFang SC"/>
                <a:cs typeface="PingFang SC"/>
              </a:rPr>
              <a:t>标签 C</a:t>
            </a:r>
          </a:p>
        </p:txBody>
      </p:sp>
      <p:sp>
        <p:nvSpPr>
          <p:cNvPr id="34" name="Oval 33"/>
          <p:cNvSpPr/>
          <p:nvPr/>
        </p:nvSpPr>
        <p:spPr>
          <a:xfrm>
            <a:off x="5600700" y="369570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00700" y="379095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43815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1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439102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86A9E0"/>
                </a:solidFill>
                <a:latin typeface="PingFang SC"/>
                <a:ea typeface="PingFang SC"/>
                <a:cs typeface="PingFang SC"/>
              </a:rPr>
              <a:t>标签 D</a:t>
            </a:r>
          </a:p>
        </p:txBody>
      </p:sp>
      <p:sp>
        <p:nvSpPr>
          <p:cNvPr id="38" name="Oval 37"/>
          <p:cNvSpPr/>
          <p:nvPr/>
        </p:nvSpPr>
        <p:spPr>
          <a:xfrm>
            <a:off x="4505325" y="5267325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B9A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5325" y="5362575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91025" y="5953125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26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1025" y="5962650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B9A0DC"/>
                </a:solidFill>
                <a:latin typeface="PingFang SC"/>
                <a:ea typeface="PingFang SC"/>
                <a:cs typeface="PingFang SC"/>
              </a:rPr>
              <a:t>标签 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0" y="161925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40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名字是身份，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0" y="209550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400" b="0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标签是归属。</a:t>
            </a:r>
          </a:p>
        </p:txBody>
      </p:sp>
      <p:sp>
        <p:nvSpPr>
          <p:cNvPr id="44" name="Oval 43"/>
          <p:cNvSpPr/>
          <p:nvPr/>
        </p:nvSpPr>
        <p:spPr>
          <a:xfrm>
            <a:off x="7639050" y="3145917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48600" y="3048000"/>
            <a:ext cx="3771900" cy="2700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75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开始时，标签 = 自己的名字</a:t>
            </a:r>
          </a:p>
        </p:txBody>
      </p:sp>
      <p:sp>
        <p:nvSpPr>
          <p:cNvPr id="46" name="Oval 45"/>
          <p:cNvSpPr/>
          <p:nvPr/>
        </p:nvSpPr>
        <p:spPr>
          <a:xfrm>
            <a:off x="7639050" y="3595973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48600" y="3498056"/>
            <a:ext cx="3771900" cy="2700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75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A 带上标签 B，不等于 A 改名</a:t>
            </a:r>
          </a:p>
        </p:txBody>
      </p:sp>
      <p:sp>
        <p:nvSpPr>
          <p:cNvPr id="48" name="Oval 47"/>
          <p:cNvSpPr/>
          <p:nvPr/>
        </p:nvSpPr>
        <p:spPr>
          <a:xfrm>
            <a:off x="7639050" y="4046029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48600" y="3948112"/>
            <a:ext cx="3771900" cy="2700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75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边权表示连接强弱，不是人数</a:t>
            </a:r>
          </a:p>
        </p:txBody>
      </p:sp>
      <p:sp>
        <p:nvSpPr>
          <p:cNvPr id="50" name="Oval 49"/>
          <p:cNvSpPr/>
          <p:nvPr/>
        </p:nvSpPr>
        <p:spPr>
          <a:xfrm>
            <a:off x="7639050" y="4496086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48600" y="4398169"/>
            <a:ext cx="3771900" cy="2700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75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孤立点没有邻居，标签不变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03:09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第 2 层 · 怎样算“最强”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1428750" y="2095500"/>
            <a:ext cx="2190750" cy="1524000"/>
          </a:xfrm>
          <a:prstGeom prst="line">
            <a:avLst/>
          </a:prstGeom>
          <a:ln w="2095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381250" y="2714625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81250" y="2724150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428750" y="3619500"/>
            <a:ext cx="2190750" cy="1524000"/>
          </a:xfrm>
          <a:prstGeom prst="line">
            <a:avLst/>
          </a:prstGeom>
          <a:ln w="2095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81250" y="4238625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1250" y="4248150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9500" y="3619500"/>
            <a:ext cx="2476500" cy="0"/>
          </a:xfrm>
          <a:prstGeom prst="line">
            <a:avLst/>
          </a:prstGeom>
          <a:ln w="40958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714875" y="3476625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4875" y="3486150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314700" y="331470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4700" y="340995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40005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2D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401002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标签 A</a:t>
            </a:r>
          </a:p>
        </p:txBody>
      </p:sp>
      <p:sp>
        <p:nvSpPr>
          <p:cNvPr id="17" name="Oval 16"/>
          <p:cNvSpPr/>
          <p:nvPr/>
        </p:nvSpPr>
        <p:spPr>
          <a:xfrm>
            <a:off x="1123950" y="179070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3950" y="188595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9650" y="24765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1A3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9650" y="248602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标签 B</a:t>
            </a:r>
          </a:p>
        </p:txBody>
      </p:sp>
      <p:sp>
        <p:nvSpPr>
          <p:cNvPr id="21" name="Oval 20"/>
          <p:cNvSpPr/>
          <p:nvPr/>
        </p:nvSpPr>
        <p:spPr>
          <a:xfrm>
            <a:off x="1123950" y="483870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3950" y="493395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9650" y="55245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1A3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650" y="553402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标签 B</a:t>
            </a:r>
          </a:p>
        </p:txBody>
      </p:sp>
      <p:sp>
        <p:nvSpPr>
          <p:cNvPr id="25" name="Oval 24"/>
          <p:cNvSpPr/>
          <p:nvPr/>
        </p:nvSpPr>
        <p:spPr>
          <a:xfrm>
            <a:off x="5791200" y="331470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91200" y="340995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6900" y="40005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1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76900" y="401002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86A9E0"/>
                </a:solidFill>
                <a:latin typeface="PingFang SC"/>
                <a:ea typeface="PingFang SC"/>
                <a:cs typeface="PingFang SC"/>
              </a:rPr>
              <a:t>标签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0" y="1524000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按标签把边权加起来，取最大：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20000" y="1952625"/>
            <a:ext cx="3962400" cy="666750"/>
          </a:xfrm>
          <a:prstGeom prst="roundRect">
            <a:avLst>
              <a:gd name="adj" fmla="val 14285"/>
            </a:avLst>
          </a:prstGeom>
          <a:solidFill>
            <a:srgbClr val="0D222C"/>
          </a:solidFill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00" y="2095500"/>
            <a:ext cx="3962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9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新标签 = argmax  Σ w(u, v)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620000" y="2857500"/>
          <a:ext cx="3962400" cy="13144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81200"/>
                <a:gridCol w="1981200"/>
              </a:tblGrid>
              <a:tr h="4381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标签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加权票数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</a:tr>
              <a:tr h="4381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+ 1 = 2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  <a:tr h="4381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0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620000" y="4286250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950" b="0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A 选 D：人多不一定赢。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0" y="4857750"/>
            <a:ext cx="4000500" cy="857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平票时取字典序最小的标签；</a:t>
            </a:r>
          </a:p>
          <a:p>
            <a:pPr algn="l">
              <a:lnSpc>
                <a:spcPct val="114750"/>
              </a:lnSpc>
            </a:pPr>
            <a:r>
              <a:rPr sz="15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没有邻居就不改。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03:20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第 3 层 · 一次更新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428750" y="1905000"/>
            <a:ext cx="2286000" cy="476250"/>
          </a:xfrm>
          <a:prstGeom prst="line">
            <a:avLst/>
          </a:prstGeom>
          <a:ln w="4762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428875" y="2000250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8875" y="2009775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28750" y="2381250"/>
            <a:ext cx="1524000" cy="1476375"/>
          </a:xfrm>
          <a:prstGeom prst="line">
            <a:avLst/>
          </a:prstGeom>
          <a:ln w="20955">
            <a:solidFill>
              <a:srgbClr val="76C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047875" y="2976562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47875" y="2986088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952750" y="1905000"/>
            <a:ext cx="762000" cy="1952625"/>
          </a:xfrm>
          <a:prstGeom prst="line">
            <a:avLst/>
          </a:prstGeom>
          <a:ln w="40958">
            <a:solidFill>
              <a:srgbClr val="76C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190875" y="2738438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0875" y="2747962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52750" y="3857625"/>
            <a:ext cx="2952750" cy="142875"/>
          </a:xfrm>
          <a:prstGeom prst="line">
            <a:avLst/>
          </a:prstGeom>
          <a:ln w="27622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286250" y="3786188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795712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810125" y="4000500"/>
            <a:ext cx="1095375" cy="1571625"/>
          </a:xfrm>
          <a:prstGeom prst="line">
            <a:avLst/>
          </a:prstGeom>
          <a:ln w="4762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214938" y="4643438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4938" y="4652962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52750" y="3857625"/>
            <a:ext cx="1857375" cy="1714500"/>
          </a:xfrm>
          <a:prstGeom prst="line">
            <a:avLst/>
          </a:prstGeom>
          <a:ln w="2095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738562" y="4572000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8562" y="4581525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1123950" y="207645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3950" y="217170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9650" y="276225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1A3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650" y="277177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标签 B</a:t>
            </a:r>
          </a:p>
        </p:txBody>
      </p:sp>
      <p:sp>
        <p:nvSpPr>
          <p:cNvPr id="26" name="Oval 25"/>
          <p:cNvSpPr/>
          <p:nvPr/>
        </p:nvSpPr>
        <p:spPr>
          <a:xfrm>
            <a:off x="3409950" y="160020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9950" y="169545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5650" y="22860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1A3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5650" y="229552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标签 B</a:t>
            </a:r>
          </a:p>
        </p:txBody>
      </p:sp>
      <p:sp>
        <p:nvSpPr>
          <p:cNvPr id="30" name="Oval 29"/>
          <p:cNvSpPr/>
          <p:nvPr/>
        </p:nvSpPr>
        <p:spPr>
          <a:xfrm>
            <a:off x="2647950" y="3552825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D9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47950" y="3648075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33650" y="4238625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2C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33650" y="4248150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D99A9A"/>
                </a:solidFill>
                <a:latin typeface="PingFang SC"/>
                <a:ea typeface="PingFang SC"/>
                <a:cs typeface="PingFang SC"/>
              </a:rPr>
              <a:t>标签 C</a:t>
            </a:r>
          </a:p>
        </p:txBody>
      </p:sp>
      <p:sp>
        <p:nvSpPr>
          <p:cNvPr id="34" name="Oval 33"/>
          <p:cNvSpPr/>
          <p:nvPr/>
        </p:nvSpPr>
        <p:spPr>
          <a:xfrm>
            <a:off x="5600700" y="369570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00700" y="379095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43815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1D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439102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86A9E0"/>
                </a:solidFill>
                <a:latin typeface="PingFang SC"/>
                <a:ea typeface="PingFang SC"/>
                <a:cs typeface="PingFang SC"/>
              </a:rPr>
              <a:t>标签 D</a:t>
            </a:r>
          </a:p>
        </p:txBody>
      </p:sp>
      <p:sp>
        <p:nvSpPr>
          <p:cNvPr id="38" name="Oval 37"/>
          <p:cNvSpPr/>
          <p:nvPr/>
        </p:nvSpPr>
        <p:spPr>
          <a:xfrm>
            <a:off x="4505325" y="5267325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B9A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5325" y="5362575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91025" y="5953125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26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1025" y="5962650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B9A0DC"/>
                </a:solidFill>
                <a:latin typeface="PingFang SC"/>
                <a:ea typeface="PingFang SC"/>
                <a:cs typeface="PingFang SC"/>
              </a:rPr>
              <a:t>标签 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0" y="1524000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轮到 C，它只读自己的边：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7620000" y="2000250"/>
          <a:ext cx="3962400" cy="190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33500"/>
                <a:gridCol w="2628900"/>
              </a:tblGrid>
              <a:tr h="4762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标签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加权票数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</a:tr>
              <a:tr h="4762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0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+ 4 = 5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  <a:tr h="4762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</a:tr>
              <a:tr h="4762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75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7620000" y="409575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100" b="0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C 改写为标签 B，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0" y="455295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10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名字仍是 C。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0" y="5238750"/>
            <a:ext cx="40005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42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不需要看到全局，</a:t>
            </a:r>
          </a:p>
          <a:p>
            <a:pPr algn="l">
              <a:lnSpc>
                <a:spcPct val="114750"/>
              </a:lnSpc>
            </a:pPr>
            <a:r>
              <a:rPr sz="142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也不是“选最粗的一条边”。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03:40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第 4 层 · 一整轮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28750"/>
          <a:ext cx="10972800" cy="3543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28750"/>
                <a:gridCol w="5334000"/>
                <a:gridCol w="2095500"/>
                <a:gridCol w="2114550"/>
              </a:tblGrid>
              <a:tr h="5905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访问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当时看到的加权票数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新标签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改变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</a:tr>
              <a:tr h="5905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B:5，C:1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  <a:tr h="5905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B:5，C:4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</a:tr>
              <a:tr h="5905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B:1+4=5，D:2，E:1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  <a:tr h="5905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B:2，E:5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</a:tr>
              <a:tr h="5905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B:1，E:5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5219700"/>
            <a:ext cx="6667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250" b="0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轮末标签：B  B  B  E 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7531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每次更新立即写回，后面的节点读到新值：这叫异步更新（课堂默认）。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04:00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第 5 层 · 何时停止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28750"/>
          <a:ext cx="7429500" cy="1600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4500"/>
                <a:gridCol w="2857500"/>
                <a:gridCol w="2857500"/>
              </a:tblGrid>
              <a:tr h="53340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轮次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轮末标签 A B C D E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改变的节点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</a:tr>
              <a:tr h="53340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 1 轮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  B  B  E  E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A、C、D（3 个）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  <a:tr h="53340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 2 轮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  B  B  E  E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76CBB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无（0 个）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3429000"/>
            <a:ext cx="7429500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100" b="0">
                <a:solidFill>
                  <a:srgbClr val="76CBB5"/>
                </a:solidFill>
                <a:latin typeface="Songti SC"/>
                <a:ea typeface="Songti SC"/>
                <a:cs typeface="Songti SC"/>
              </a:rPr>
              <a:t>一整轮零变化，才算停下：共 2 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4191000"/>
            <a:ext cx="3467100" cy="1619250"/>
          </a:xfrm>
          <a:prstGeom prst="roundRect">
            <a:avLst>
              <a:gd name="adj" fmla="val 7058"/>
            </a:avLst>
          </a:prstGeom>
          <a:solidFill>
            <a:srgbClr val="0D222C"/>
          </a:solidFill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440055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250" b="1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stable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914900"/>
            <a:ext cx="3048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0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完整一轮没有任何改变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5300" y="4191000"/>
            <a:ext cx="3467100" cy="1619250"/>
          </a:xfrm>
          <a:prstGeom prst="roundRect">
            <a:avLst>
              <a:gd name="adj" fmla="val 7058"/>
            </a:avLst>
          </a:prstGeom>
          <a:solidFill>
            <a:srgbClr val="0D222C"/>
          </a:solidFill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900" y="440055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250" b="1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4914900"/>
            <a:ext cx="3048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0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完整的标签状态再次出现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191000"/>
            <a:ext cx="3467100" cy="1619250"/>
          </a:xfrm>
          <a:prstGeom prst="roundRect">
            <a:avLst>
              <a:gd name="adj" fmla="val 7058"/>
            </a:avLst>
          </a:prstGeom>
          <a:solidFill>
            <a:srgbClr val="0D222C"/>
          </a:solidFill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40055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250" b="1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914900"/>
            <a:ext cx="3048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0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达到安全上限（默认 50 轮），</a:t>
            </a:r>
          </a:p>
          <a:p>
            <a:pPr algn="l">
              <a:lnSpc>
                <a:spcPct val="114750"/>
              </a:lnSpc>
            </a:pPr>
            <a:r>
              <a:rPr sz="150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不能写成已经收敛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04:20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第 6 层 · 同时还是轮流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952750" y="1524000"/>
            <a:ext cx="423862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800" b="0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同步：大家同时读旧标签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43775" y="1524000"/>
            <a:ext cx="4238625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800" b="0">
                <a:solidFill>
                  <a:srgbClr val="76CBB5"/>
                </a:solidFill>
                <a:latin typeface="Songti SC"/>
                <a:ea typeface="Songti SC"/>
                <a:cs typeface="Songti SC"/>
              </a:rPr>
              <a:t>异步：轮流读，立即写回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2095500"/>
          <a:ext cx="10972800" cy="28575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0750"/>
                <a:gridCol w="4391025"/>
                <a:gridCol w="4391025"/>
              </a:tblGrid>
              <a:tr h="57150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  A / B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异步  A / B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</a:tr>
              <a:tr h="57150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初始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/ B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/ B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  <a:tr h="57150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 1 轮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 / A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 / B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</a:tr>
              <a:tr h="57150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 2 轮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/ B（回到初始）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 / B（零变化）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  <a:tr h="57150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停止原因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cycle：永远停不下来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650" b="0">
                          <a:solidFill>
                            <a:srgbClr val="76CBB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stable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53340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80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读取哪个时刻的邻居标签，会改变整个过程。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04:35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第 7 层 · 分得好不好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428750" y="1905000"/>
            <a:ext cx="2286000" cy="476250"/>
          </a:xfrm>
          <a:prstGeom prst="line">
            <a:avLst/>
          </a:prstGeom>
          <a:ln w="4762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428875" y="2000250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8875" y="2009775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28750" y="2381250"/>
            <a:ext cx="1524000" cy="1476375"/>
          </a:xfrm>
          <a:prstGeom prst="line">
            <a:avLst/>
          </a:prstGeom>
          <a:ln w="2095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047875" y="2976562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47875" y="2986088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952750" y="1905000"/>
            <a:ext cx="762000" cy="1952625"/>
          </a:xfrm>
          <a:prstGeom prst="line">
            <a:avLst/>
          </a:prstGeom>
          <a:ln w="40958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190875" y="2738438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0875" y="2747962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52750" y="3857625"/>
            <a:ext cx="2952750" cy="142875"/>
          </a:xfrm>
          <a:prstGeom prst="line">
            <a:avLst/>
          </a:prstGeom>
          <a:ln w="27622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286250" y="3786188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795712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810125" y="4000500"/>
            <a:ext cx="1095375" cy="1571625"/>
          </a:xfrm>
          <a:prstGeom prst="line">
            <a:avLst/>
          </a:prstGeom>
          <a:ln w="47625">
            <a:solidFill>
              <a:srgbClr val="516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214938" y="4643438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516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4938" y="4652962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51626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52750" y="3857625"/>
            <a:ext cx="1857375" cy="1714500"/>
          </a:xfrm>
          <a:prstGeom prst="line">
            <a:avLst/>
          </a:prstGeom>
          <a:ln w="20955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738562" y="4572000"/>
            <a:ext cx="285750" cy="285750"/>
          </a:xfrm>
          <a:prstGeom prst="ellipse">
            <a:avLst/>
          </a:prstGeom>
          <a:solidFill>
            <a:srgbClr val="061219"/>
          </a:solidFill>
          <a:ln w="1143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8562" y="4581525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75" b="1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1123950" y="207645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3950" y="217170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9650" y="276225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1A3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650" y="277177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标签 B</a:t>
            </a:r>
          </a:p>
        </p:txBody>
      </p:sp>
      <p:sp>
        <p:nvSpPr>
          <p:cNvPr id="26" name="Oval 25"/>
          <p:cNvSpPr/>
          <p:nvPr/>
        </p:nvSpPr>
        <p:spPr>
          <a:xfrm>
            <a:off x="3409950" y="160020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9950" y="169545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5650" y="22860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1A3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5650" y="229552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标签 B</a:t>
            </a:r>
          </a:p>
        </p:txBody>
      </p:sp>
      <p:sp>
        <p:nvSpPr>
          <p:cNvPr id="30" name="Oval 29"/>
          <p:cNvSpPr/>
          <p:nvPr/>
        </p:nvSpPr>
        <p:spPr>
          <a:xfrm>
            <a:off x="2647950" y="3552825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47950" y="3648075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33650" y="4238625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1A3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33650" y="4248150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标签 B</a:t>
            </a:r>
          </a:p>
        </p:txBody>
      </p:sp>
      <p:sp>
        <p:nvSpPr>
          <p:cNvPr id="34" name="Oval 33"/>
          <p:cNvSpPr/>
          <p:nvPr/>
        </p:nvSpPr>
        <p:spPr>
          <a:xfrm>
            <a:off x="5600700" y="3695700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B9A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00700" y="379095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43815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26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4391025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B9A0DC"/>
                </a:solidFill>
                <a:latin typeface="PingFang SC"/>
                <a:ea typeface="PingFang SC"/>
                <a:cs typeface="PingFang SC"/>
              </a:rPr>
              <a:t>标签 E</a:t>
            </a:r>
          </a:p>
        </p:txBody>
      </p:sp>
      <p:sp>
        <p:nvSpPr>
          <p:cNvPr id="38" name="Oval 37"/>
          <p:cNvSpPr/>
          <p:nvPr/>
        </p:nvSpPr>
        <p:spPr>
          <a:xfrm>
            <a:off x="4505325" y="5267325"/>
            <a:ext cx="609600" cy="609600"/>
          </a:xfrm>
          <a:prstGeom prst="ellipse">
            <a:avLst/>
          </a:prstGeom>
          <a:solidFill>
            <a:srgbClr val="061219"/>
          </a:solidFill>
          <a:ln w="33338">
            <a:solidFill>
              <a:srgbClr val="B9A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5325" y="5362575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2100" b="1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91025" y="5953125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262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1025" y="5962650"/>
            <a:ext cx="83820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4750"/>
              </a:lnSpc>
            </a:pPr>
            <a:r>
              <a:rPr sz="1200" b="0">
                <a:solidFill>
                  <a:srgbClr val="B9A0DC"/>
                </a:solidFill>
                <a:latin typeface="PingFang SC"/>
                <a:ea typeface="PingFang SC"/>
                <a:cs typeface="PingFang SC"/>
              </a:rPr>
              <a:t>标签 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0" y="1524000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跨组的边：CD 与 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0" y="1905000"/>
            <a:ext cx="40005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1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cutsize = 2 + 1 =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0000" y="249555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加的是权重，不是条数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20000" y="3009900"/>
            <a:ext cx="3962400" cy="0"/>
          </a:xfrm>
          <a:prstGeom prst="line">
            <a:avLst/>
          </a:prstGeom>
          <a:ln w="9525">
            <a:solidFill>
              <a:srgbClr val="2441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20000" y="32004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把 C–D 加强：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7620000" y="3619500"/>
          <a:ext cx="3962400" cy="1752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28750"/>
                <a:gridCol w="2533650"/>
              </a:tblGrid>
              <a:tr h="4381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3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C–D 权重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35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分组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</a:tr>
              <a:tr h="4381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3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2（原图）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3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{A,B,C} {D,E}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  <a:tr h="4381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3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3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五个点合成一组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</a:tr>
              <a:tr h="43815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3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≥ 6（如 10）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35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{A,B} {C,D,E}，cut 5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7620000" y="5524500"/>
            <a:ext cx="40005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42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全放一组 cutsize = 0，</a:t>
            </a:r>
          </a:p>
          <a:p>
            <a:pPr algn="l">
              <a:lnSpc>
                <a:spcPct val="114750"/>
              </a:lnSpc>
            </a:pPr>
            <a:r>
              <a:rPr sz="142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但未必满足任务。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04:55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第 8 层 · 回到芯片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66750" y="2220218"/>
            <a:ext cx="1453753" cy="422374"/>
          </a:xfrm>
          <a:prstGeom prst="line">
            <a:avLst/>
          </a:prstGeom>
          <a:ln w="3619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66750" y="2308622"/>
            <a:ext cx="2603004" cy="333970"/>
          </a:xfrm>
          <a:prstGeom prst="line">
            <a:avLst/>
          </a:prstGeom>
          <a:ln w="19050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6750" y="2642592"/>
            <a:ext cx="49113" cy="618828"/>
          </a:xfrm>
          <a:prstGeom prst="line">
            <a:avLst/>
          </a:prstGeom>
          <a:ln w="41910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6750" y="2642592"/>
            <a:ext cx="1286768" cy="775990"/>
          </a:xfrm>
          <a:prstGeom prst="line">
            <a:avLst/>
          </a:prstGeom>
          <a:ln w="2476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20503" y="2220218"/>
            <a:ext cx="1149251" cy="88404"/>
          </a:xfrm>
          <a:prstGeom prst="line">
            <a:avLst/>
          </a:prstGeom>
          <a:ln w="30480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20503" y="2220218"/>
            <a:ext cx="2210098" cy="599182"/>
          </a:xfrm>
          <a:prstGeom prst="line">
            <a:avLst/>
          </a:prstGeom>
          <a:ln w="2476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15863" y="2220218"/>
            <a:ext cx="1404640" cy="1041202"/>
          </a:xfrm>
          <a:prstGeom prst="line">
            <a:avLst/>
          </a:prstGeom>
          <a:ln w="30480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953518" y="2220218"/>
            <a:ext cx="166985" cy="1198364"/>
          </a:xfrm>
          <a:prstGeom prst="line">
            <a:avLst/>
          </a:prstGeom>
          <a:ln w="41910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69754" y="2308622"/>
            <a:ext cx="1060847" cy="510778"/>
          </a:xfrm>
          <a:prstGeom prst="line">
            <a:avLst/>
          </a:prstGeom>
          <a:ln w="3619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69754" y="2308622"/>
            <a:ext cx="2377083" cy="510778"/>
          </a:xfrm>
          <a:prstGeom prst="line">
            <a:avLst/>
          </a:prstGeom>
          <a:ln w="2476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15863" y="2308622"/>
            <a:ext cx="2553891" cy="952798"/>
          </a:xfrm>
          <a:prstGeom prst="line">
            <a:avLst/>
          </a:prstGeom>
          <a:ln w="1333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953518" y="2308622"/>
            <a:ext cx="1316236" cy="1109960"/>
          </a:xfrm>
          <a:prstGeom prst="line">
            <a:avLst/>
          </a:prstGeom>
          <a:ln w="2476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30601" y="2819400"/>
            <a:ext cx="1316236" cy="0"/>
          </a:xfrm>
          <a:prstGeom prst="line">
            <a:avLst/>
          </a:prstGeom>
          <a:ln w="3619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330601" y="2622947"/>
            <a:ext cx="2612826" cy="196453"/>
          </a:xfrm>
          <a:prstGeom prst="line">
            <a:avLst/>
          </a:prstGeom>
          <a:ln w="2476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15863" y="2819400"/>
            <a:ext cx="3614738" cy="442020"/>
          </a:xfrm>
          <a:prstGeom prst="line">
            <a:avLst/>
          </a:prstGeom>
          <a:ln w="19050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953518" y="2819400"/>
            <a:ext cx="2377083" cy="599182"/>
          </a:xfrm>
          <a:prstGeom prst="line">
            <a:avLst/>
          </a:prstGeom>
          <a:ln w="1333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646837" y="2622947"/>
            <a:ext cx="1296590" cy="196453"/>
          </a:xfrm>
          <a:prstGeom prst="line">
            <a:avLst/>
          </a:prstGeom>
          <a:ln w="3619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5863" y="3261420"/>
            <a:ext cx="1237655" cy="157162"/>
          </a:xfrm>
          <a:prstGeom prst="line">
            <a:avLst/>
          </a:prstGeom>
          <a:ln w="36195">
            <a:solidFill>
              <a:srgbClr val="386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171527" y="3320355"/>
            <a:ext cx="1384995" cy="29468"/>
          </a:xfrm>
          <a:prstGeom prst="line">
            <a:avLst/>
          </a:prstGeom>
          <a:ln w="3619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5331" y="3349823"/>
            <a:ext cx="2426196" cy="844749"/>
          </a:xfrm>
          <a:prstGeom prst="line">
            <a:avLst/>
          </a:prstGeom>
          <a:ln w="1905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012454" y="3349823"/>
            <a:ext cx="1159073" cy="658118"/>
          </a:xfrm>
          <a:prstGeom prst="line">
            <a:avLst/>
          </a:prstGeom>
          <a:ln w="2476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083123" y="3349823"/>
            <a:ext cx="88404" cy="962621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71527" y="3349823"/>
            <a:ext cx="1267123" cy="815281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56522" y="3261420"/>
            <a:ext cx="844748" cy="58935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56522" y="3320355"/>
            <a:ext cx="2396728" cy="108050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012454" y="3320355"/>
            <a:ext cx="2544068" cy="687586"/>
          </a:xfrm>
          <a:prstGeom prst="line">
            <a:avLst/>
          </a:prstGeom>
          <a:ln w="1905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083123" y="3320355"/>
            <a:ext cx="1473399" cy="992089"/>
          </a:xfrm>
          <a:prstGeom prst="line">
            <a:avLst/>
          </a:prstGeom>
          <a:ln w="1905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438650" y="3320355"/>
            <a:ext cx="117872" cy="844749"/>
          </a:xfrm>
          <a:prstGeom prst="line">
            <a:avLst/>
          </a:prstGeom>
          <a:ln w="3619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01270" y="3261420"/>
            <a:ext cx="1551980" cy="166985"/>
          </a:xfrm>
          <a:prstGeom prst="line">
            <a:avLst/>
          </a:prstGeom>
          <a:ln w="3619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4438650" y="3261420"/>
            <a:ext cx="962620" cy="903684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438650" y="3428405"/>
            <a:ext cx="2514600" cy="736699"/>
          </a:xfrm>
          <a:prstGeom prst="line">
            <a:avLst/>
          </a:prstGeom>
          <a:ln w="1905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45331" y="4007941"/>
            <a:ext cx="1267123" cy="186631"/>
          </a:xfrm>
          <a:prstGeom prst="line">
            <a:avLst/>
          </a:prstGeom>
          <a:ln w="36195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5331" y="4194572"/>
            <a:ext cx="2337792" cy="117872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12454" y="4007941"/>
            <a:ext cx="1070669" cy="304503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012454" y="4007941"/>
            <a:ext cx="2426196" cy="157163"/>
          </a:xfrm>
          <a:prstGeom prst="line">
            <a:avLst/>
          </a:prstGeom>
          <a:ln w="1905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83123" y="4165104"/>
            <a:ext cx="1355527" cy="147340"/>
          </a:xfrm>
          <a:prstGeom prst="line">
            <a:avLst/>
          </a:prstGeom>
          <a:ln w="30480">
            <a:solidFill>
              <a:srgbClr val="675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548610" y="4106168"/>
            <a:ext cx="1316236" cy="98227"/>
          </a:xfrm>
          <a:prstGeom prst="line">
            <a:avLst/>
          </a:prstGeom>
          <a:ln w="3619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179439" y="4106168"/>
            <a:ext cx="3369171" cy="805458"/>
          </a:xfrm>
          <a:prstGeom prst="line">
            <a:avLst/>
          </a:prstGeom>
          <a:ln w="1905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132237" y="4106168"/>
            <a:ext cx="2416373" cy="1198364"/>
          </a:xfrm>
          <a:prstGeom prst="line">
            <a:avLst/>
          </a:prstGeom>
          <a:ln w="1333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458295" y="4106168"/>
            <a:ext cx="1090315" cy="1168896"/>
          </a:xfrm>
          <a:prstGeom prst="line">
            <a:avLst/>
          </a:prstGeom>
          <a:ln w="3048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528965" y="4106168"/>
            <a:ext cx="19645" cy="726877"/>
          </a:xfrm>
          <a:prstGeom prst="line">
            <a:avLst/>
          </a:prstGeom>
          <a:ln w="4191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548610" y="4106168"/>
            <a:ext cx="1139428" cy="805458"/>
          </a:xfrm>
          <a:prstGeom prst="line">
            <a:avLst/>
          </a:prstGeom>
          <a:ln w="3048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132237" y="4204395"/>
            <a:ext cx="3732609" cy="1100137"/>
          </a:xfrm>
          <a:prstGeom prst="line">
            <a:avLst/>
          </a:prstGeom>
          <a:ln w="1333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528965" y="4204395"/>
            <a:ext cx="1335881" cy="628650"/>
          </a:xfrm>
          <a:prstGeom prst="line">
            <a:avLst/>
          </a:prstGeom>
          <a:ln w="2476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688038" y="4204395"/>
            <a:ext cx="176808" cy="707231"/>
          </a:xfrm>
          <a:prstGeom prst="line">
            <a:avLst/>
          </a:prstGeom>
          <a:ln w="4191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15863" y="4911626"/>
            <a:ext cx="1463576" cy="117872"/>
          </a:xfrm>
          <a:prstGeom prst="line">
            <a:avLst/>
          </a:prstGeom>
          <a:ln w="4191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5863" y="5029498"/>
            <a:ext cx="2416374" cy="275034"/>
          </a:xfrm>
          <a:prstGeom prst="line">
            <a:avLst/>
          </a:prstGeom>
          <a:ln w="3048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79439" y="4911626"/>
            <a:ext cx="952798" cy="392906"/>
          </a:xfrm>
          <a:prstGeom prst="line">
            <a:avLst/>
          </a:prstGeom>
          <a:ln w="3619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179439" y="4911626"/>
            <a:ext cx="2278856" cy="363438"/>
          </a:xfrm>
          <a:prstGeom prst="line">
            <a:avLst/>
          </a:prstGeom>
          <a:ln w="1905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132237" y="5275064"/>
            <a:ext cx="1326058" cy="29468"/>
          </a:xfrm>
          <a:prstGeom prst="line">
            <a:avLst/>
          </a:prstGeom>
          <a:ln w="3048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32237" y="4833045"/>
            <a:ext cx="2396728" cy="471487"/>
          </a:xfrm>
          <a:prstGeom prst="line">
            <a:avLst/>
          </a:prstGeom>
          <a:ln w="3048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58295" y="4833045"/>
            <a:ext cx="1070670" cy="442019"/>
          </a:xfrm>
          <a:prstGeom prst="line">
            <a:avLst/>
          </a:prstGeom>
          <a:ln w="30480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458295" y="4911626"/>
            <a:ext cx="2229743" cy="363438"/>
          </a:xfrm>
          <a:prstGeom prst="line">
            <a:avLst/>
          </a:prstGeom>
          <a:ln w="2476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528965" y="4833045"/>
            <a:ext cx="1159073" cy="78581"/>
          </a:xfrm>
          <a:prstGeom prst="line">
            <a:avLst/>
          </a:prstGeom>
          <a:ln w="36195">
            <a:solidFill>
              <a:srgbClr val="405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53518" y="3418582"/>
            <a:ext cx="58936" cy="589359"/>
          </a:xfrm>
          <a:prstGeom prst="line">
            <a:avLst/>
          </a:prstGeom>
          <a:ln w="16192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38650" y="4165104"/>
            <a:ext cx="19645" cy="1109960"/>
          </a:xfrm>
          <a:prstGeom prst="line">
            <a:avLst/>
          </a:prstGeom>
          <a:ln w="16192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71500" y="254734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19125" y="2594967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025253" y="2124968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072878" y="2172593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174504" y="221337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22129" y="2260997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235351" y="272415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282976" y="2771775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551587" y="272415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99212" y="2771775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848177" y="2527697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95802" y="2575322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0613" y="316617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238" y="3213795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858268" y="332333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905893" y="3370957"/>
            <a:ext cx="95250" cy="95250"/>
          </a:xfrm>
          <a:prstGeom prst="ellipse">
            <a:avLst/>
          </a:prstGeom>
          <a:solidFill>
            <a:srgbClr val="76C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076277" y="3254573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123902" y="3302198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461272" y="322510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08897" y="3272730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020" y="3166170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53645" y="3213795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858000" y="333315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905625" y="3380780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50081" y="409932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97706" y="4146947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917204" y="3912691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964829" y="3960316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987873" y="4217194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035498" y="4264819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343400" y="4069854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91025" y="4117479"/>
            <a:ext cx="95250" cy="9525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453360" y="4010918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500985" y="4058543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769596" y="410914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817221" y="4156770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20613" y="4934248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68238" y="4981873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084189" y="4816376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131814" y="4864001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036987" y="5209282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084612" y="5256907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363045" y="5179814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410670" y="5227439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433715" y="4737795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481340" y="4785420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592788" y="4816376"/>
            <a:ext cx="190500" cy="190500"/>
          </a:xfrm>
          <a:prstGeom prst="ellipse">
            <a:avLst/>
          </a:prstGeom>
          <a:solidFill>
            <a:srgbClr val="061219"/>
          </a:solidFill>
          <a:ln w="22860">
            <a:solidFill>
              <a:srgbClr val="86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640413" y="4864001"/>
            <a:ext cx="95250" cy="95250"/>
          </a:xfrm>
          <a:prstGeom prst="ellipse">
            <a:avLst/>
          </a:prstGeom>
          <a:solidFill>
            <a:srgbClr val="86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000" y="1524000"/>
            <a:ext cx="19050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3000" b="1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5 轮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20000" y="20764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2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第 5 轮零变化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20250" y="1524000"/>
            <a:ext cx="200025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3000" b="1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8 · 8 · 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20250" y="2076450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27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三组大小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20000" y="285750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切开的权重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20000" y="32004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3900" b="1">
                <a:solidFill>
                  <a:srgbClr val="76CBB5"/>
                </a:solidFill>
                <a:latin typeface="Songti SC"/>
                <a:ea typeface="Songti SC"/>
                <a:cs typeface="Songti SC"/>
              </a:rP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620250" y="3200400"/>
            <a:ext cx="200025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3900" b="1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88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0000" y="38100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275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标签传播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20250" y="3810000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275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按位置的尺子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000" y="4476750"/>
            <a:ext cx="40005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7500"/>
              </a:lnSpc>
            </a:pPr>
            <a:r>
              <a:rPr sz="150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每条连线一轮被两端各读一次：</a:t>
            </a:r>
          </a:p>
          <a:p>
            <a:pPr algn="l">
              <a:lnSpc>
                <a:spcPct val="127500"/>
              </a:lnSpc>
            </a:pPr>
            <a:r>
              <a:rPr sz="150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一轮的工作量和连线数成正比。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05:10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第 9 层 · 它做不到的事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28650" y="1533144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1428750"/>
            <a:ext cx="5105400" cy="2828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不保证分成几组：没有“分 3 组”的参数</a:t>
            </a:r>
          </a:p>
        </p:txBody>
      </p:sp>
      <p:sp>
        <p:nvSpPr>
          <p:cNvPr id="6" name="Oval 5"/>
          <p:cNvSpPr/>
          <p:nvPr/>
        </p:nvSpPr>
        <p:spPr>
          <a:xfrm>
            <a:off x="628650" y="2004632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900238"/>
            <a:ext cx="5105400" cy="2828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不保证每组一样大：老师的图是 3 + 2</a:t>
            </a:r>
          </a:p>
        </p:txBody>
      </p:sp>
      <p:sp>
        <p:nvSpPr>
          <p:cNvPr id="8" name="Oval 7"/>
          <p:cNvSpPr/>
          <p:nvPr/>
        </p:nvSpPr>
        <p:spPr>
          <a:xfrm>
            <a:off x="628650" y="2476119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371725"/>
            <a:ext cx="5105400" cy="2828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受访问顺序影响</a:t>
            </a:r>
          </a:p>
        </p:txBody>
      </p:sp>
      <p:sp>
        <p:nvSpPr>
          <p:cNvPr id="10" name="Oval 9"/>
          <p:cNvSpPr/>
          <p:nvPr/>
        </p:nvSpPr>
        <p:spPr>
          <a:xfrm>
            <a:off x="628650" y="2947606"/>
            <a:ext cx="76200" cy="76200"/>
          </a:xfrm>
          <a:prstGeom prst="ellipse">
            <a:avLst/>
          </a:prstGeom>
          <a:solidFill>
            <a:srgbClr val="DDB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2843212"/>
            <a:ext cx="5105400" cy="2828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不是全局最优：不是受约束的最小割求解器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86500" y="1524000"/>
          <a:ext cx="5295900" cy="1600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9750"/>
                <a:gridCol w="2095500"/>
                <a:gridCol w="1390650"/>
              </a:tblGrid>
              <a:tr h="53340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0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访问顺序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0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最终标签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00" b="1">
                          <a:solidFill>
                            <a:srgbClr val="DDBD7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轮数</a:t>
                      </a:r>
                    </a:p>
                  </a:txBody>
                  <a:tcPr marL="152400" marR="76200" marT="0" marB="0" anchor="ctr">
                    <a:solidFill>
                      <a:srgbClr val="282D28"/>
                    </a:solidFill>
                  </a:tcPr>
                </a:tc>
              </a:tr>
              <a:tr h="53340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0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B C D E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0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 B B E E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0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152400" marR="76200" marT="0" marB="0" anchor="ctr">
                    <a:solidFill>
                      <a:srgbClr val="0D222C"/>
                    </a:solidFill>
                  </a:tcPr>
                </a:tc>
              </a:tr>
              <a:tr h="53340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0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 D C B A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0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A A D D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500" b="0">
                          <a:solidFill>
                            <a:srgbClr val="EEEA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152400" marR="76200" marT="0" marB="0" anchor="ctr">
                    <a:solidFill>
                      <a:srgbClr val="06121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86500" y="3333750"/>
            <a:ext cx="5295900" cy="857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3250"/>
              </a:lnSpc>
            </a:pPr>
            <a:r>
              <a:rPr sz="1650" b="0">
                <a:solidFill>
                  <a:srgbClr val="76CBB5"/>
                </a:solidFill>
                <a:latin typeface="Songti SC"/>
                <a:ea typeface="Songti SC"/>
                <a:cs typeface="Songti SC"/>
              </a:rPr>
              <a:t>分组一样（三点 + 两点），</a:t>
            </a:r>
          </a:p>
          <a:p>
            <a:pPr algn="l">
              <a:lnSpc>
                <a:spcPct val="123250"/>
              </a:lnSpc>
            </a:pPr>
            <a:r>
              <a:rPr sz="1650" b="0">
                <a:solidFill>
                  <a:srgbClr val="76CBB5"/>
                </a:solidFill>
                <a:latin typeface="Songti SC"/>
                <a:ea typeface="Songti SC"/>
                <a:cs typeface="Songti SC"/>
              </a:rPr>
              <a:t>标签名字和过程不同。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4381500"/>
            <a:ext cx="52959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42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比较结果时，要分清“标签叫什么”</a:t>
            </a:r>
          </a:p>
          <a:p>
            <a:pPr algn="l">
              <a:lnSpc>
                <a:spcPct val="114750"/>
              </a:lnSpc>
            </a:pPr>
            <a:r>
              <a:rPr sz="142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和“哪些点在一起”。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05:25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现实中的用法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09600" y="1619250"/>
            <a:ext cx="2400300" cy="1238250"/>
          </a:xfrm>
          <a:prstGeom prst="roundRect">
            <a:avLst>
              <a:gd name="adj" fmla="val 9230"/>
            </a:avLst>
          </a:prstGeom>
          <a:solidFill>
            <a:srgbClr val="0D222C"/>
          </a:solidFill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866900"/>
            <a:ext cx="24003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210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网表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62200"/>
            <a:ext cx="24003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3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几百万单元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9900" y="20383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9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900" y="1619250"/>
            <a:ext cx="2400300" cy="1238250"/>
          </a:xfrm>
          <a:prstGeom prst="roundRect">
            <a:avLst>
              <a:gd name="adj" fmla="val 9230"/>
            </a:avLst>
          </a:prstGeom>
          <a:solidFill>
            <a:srgbClr val="0D222C"/>
          </a:solidFill>
          <a:ln w="19050">
            <a:solidFill>
              <a:srgbClr val="76C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0900" y="1866900"/>
            <a:ext cx="24003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2100" b="0">
                <a:solidFill>
                  <a:srgbClr val="76CBB5"/>
                </a:solidFill>
                <a:latin typeface="Songti SC"/>
                <a:ea typeface="Songti SC"/>
                <a:cs typeface="Songti SC"/>
              </a:rPr>
              <a:t>标签传播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0900" y="2362200"/>
            <a:ext cx="24003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3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收成团（粗化）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20383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9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19250"/>
            <a:ext cx="2400300" cy="1238250"/>
          </a:xfrm>
          <a:prstGeom prst="roundRect">
            <a:avLst>
              <a:gd name="adj" fmla="val 9230"/>
            </a:avLst>
          </a:prstGeom>
          <a:solidFill>
            <a:srgbClr val="0D222C"/>
          </a:solidFill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866900"/>
            <a:ext cx="24003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210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精细划分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362200"/>
            <a:ext cx="24003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3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面积 · 平衡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20383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9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500" y="1619250"/>
            <a:ext cx="2400300" cy="1238250"/>
          </a:xfrm>
          <a:prstGeom prst="roundRect">
            <a:avLst>
              <a:gd name="adj" fmla="val 9230"/>
            </a:avLst>
          </a:prstGeom>
          <a:solidFill>
            <a:srgbClr val="0D222C"/>
          </a:solidFill>
          <a:ln w="14288">
            <a:solidFill>
              <a:srgbClr val="2441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500" y="1866900"/>
            <a:ext cx="24003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210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布局布线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0" y="2362200"/>
            <a:ext cx="24003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3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时序 · 拥塞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2004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它给出线索，不是最终答案；真实网表还可能用超图建模。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19100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360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没有人画圈。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95300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3600" b="0">
                <a:solidFill>
                  <a:srgbClr val="DDBD78"/>
                </a:solidFill>
                <a:latin typeface="Songti SC"/>
                <a:ea typeface="Songti SC"/>
                <a:cs typeface="Songti SC"/>
              </a:rPr>
              <a:t>圈子，从连接里长出来。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短片 05:43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课堂互动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4850" y="1562100"/>
            <a:ext cx="495300" cy="495300"/>
          </a:xfrm>
          <a:prstGeom prst="ellipse">
            <a:avLst/>
          </a:prstGeom>
          <a:noFill/>
          <a:ln w="1905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850" y="1638300"/>
            <a:ext cx="4953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800" b="1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50" y="1504950"/>
            <a:ext cx="10096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9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预测 C 的下一个标签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" y="1905000"/>
            <a:ext cx="10096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说出 B、D、E 各得几票，再单步验证（第 3 关）</a:t>
            </a:r>
          </a:p>
        </p:txBody>
      </p:sp>
      <p:sp>
        <p:nvSpPr>
          <p:cNvPr id="8" name="Oval 7"/>
          <p:cNvSpPr/>
          <p:nvPr/>
        </p:nvSpPr>
        <p:spPr>
          <a:xfrm>
            <a:off x="704850" y="2628900"/>
            <a:ext cx="495300" cy="495300"/>
          </a:xfrm>
          <a:prstGeom prst="ellipse">
            <a:avLst/>
          </a:prstGeom>
          <a:noFill/>
          <a:ln w="1905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2705100"/>
            <a:ext cx="4953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800" b="1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" y="2571750"/>
            <a:ext cx="10096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9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让两节点同步运行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2971800"/>
            <a:ext cx="10096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观察为什么停不下来，再切回异步（第 6 关）</a:t>
            </a:r>
          </a:p>
        </p:txBody>
      </p:sp>
      <p:sp>
        <p:nvSpPr>
          <p:cNvPr id="12" name="Oval 11"/>
          <p:cNvSpPr/>
          <p:nvPr/>
        </p:nvSpPr>
        <p:spPr>
          <a:xfrm>
            <a:off x="704850" y="3695700"/>
            <a:ext cx="495300" cy="495300"/>
          </a:xfrm>
          <a:prstGeom prst="ellipse">
            <a:avLst/>
          </a:prstGeom>
          <a:noFill/>
          <a:ln w="1905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850" y="3771900"/>
            <a:ext cx="4953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800" b="1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750" y="3638550"/>
            <a:ext cx="10096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9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把 C–D 调到 5 和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8750" y="4038600"/>
            <a:ext cx="10096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看边界怎样移动、cutsize 怎样变（第 8 关）</a:t>
            </a:r>
          </a:p>
        </p:txBody>
      </p:sp>
      <p:sp>
        <p:nvSpPr>
          <p:cNvPr id="16" name="Oval 15"/>
          <p:cNvSpPr/>
          <p:nvPr/>
        </p:nvSpPr>
        <p:spPr>
          <a:xfrm>
            <a:off x="704850" y="4762500"/>
            <a:ext cx="495300" cy="495300"/>
          </a:xfrm>
          <a:prstGeom prst="ellipse">
            <a:avLst/>
          </a:prstGeom>
          <a:noFill/>
          <a:ln w="19050">
            <a:solidFill>
              <a:srgbClr val="DDB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" y="4838700"/>
            <a:ext cx="4953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4750"/>
              </a:lnSpc>
            </a:pPr>
            <a:r>
              <a:rPr sz="1800" b="1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750" y="4705350"/>
            <a:ext cx="10096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9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Boss：给芯片分块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8750" y="5105400"/>
            <a:ext cx="10096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35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亲手分成三组，比尺子的 88 分得更好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829300"/>
            <a:ext cx="109728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00" b="0">
                <a:solidFill>
                  <a:srgbClr val="76CBB5"/>
                </a:solidFill>
                <a:latin typeface="PingFang SC"/>
                <a:ea typeface="PingFang SC"/>
                <a:cs typeface="PingFang SC"/>
              </a:rPr>
              <a:t>https://su3037.github.io/clustering-lab5-label-propagation/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0" y="495300"/>
            <a:ext cx="22479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2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网页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5250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2850" b="0">
                <a:solidFill>
                  <a:srgbClr val="EEEADD"/>
                </a:solidFill>
                <a:latin typeface="Songti SC"/>
                <a:ea typeface="Songti SC"/>
                <a:cs typeface="Songti SC"/>
              </a:rPr>
              <a:t>资料与许可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600" y="1066800"/>
            <a:ext cx="1143000" cy="0"/>
          </a:xfrm>
          <a:prstGeom prst="line">
            <a:avLst/>
          </a:prstGeom>
          <a:ln w="19050">
            <a:solidFill>
              <a:srgbClr val="DDB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600" y="1428750"/>
            <a:ext cx="109728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课程 Clustering Lab05：README、EXAMPLES、CHECKLIST、参考求解器与 tiny_graph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907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12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https://github.com/yongfu-li/eda-learning/tree/main/courses/learn_clustering/module02-01-label-propagation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81250"/>
            <a:ext cx="109728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Raghavan, Albert, Kumara (2007). Near linear time algorithm to detect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705100"/>
            <a:ext cx="109728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structures in large-scale networks. Physical Review E 76, 036106.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06705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125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https://arxiv.org/abs/0709.2938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57600"/>
            <a:ext cx="109728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00" b="0">
                <a:solidFill>
                  <a:srgbClr val="EEEADD"/>
                </a:solidFill>
                <a:latin typeface="PingFang SC"/>
                <a:ea typeface="PingFang SC"/>
                <a:cs typeface="PingFang SC"/>
              </a:rPr>
              <a:t>配乐：《We Never (Remix)（若如初见）》Hi Noise / 秋成，只随成片分发，不属于本项目许可。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" y="4343400"/>
            <a:ext cx="10972800" cy="0"/>
          </a:xfrm>
          <a:prstGeom prst="line">
            <a:avLst/>
          </a:prstGeom>
          <a:ln w="9525">
            <a:solidFill>
              <a:srgbClr val="2441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4572000"/>
            <a:ext cx="109728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650" b="0">
                <a:solidFill>
                  <a:srgbClr val="DDBD78"/>
                </a:solidFill>
                <a:latin typeface="PingFang SC"/>
                <a:ea typeface="PingFang SC"/>
                <a:cs typeface="PingFang SC"/>
              </a:rPr>
              <a:t>原创代码 MIT · 原创教材、图解与视频画面 CC BY 4.0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991100"/>
            <a:ext cx="10972800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500" b="0">
                <a:solidFill>
                  <a:srgbClr val="8FA3A3"/>
                </a:solidFill>
                <a:latin typeface="PingFang SC"/>
                <a:ea typeface="PingFang SC"/>
                <a:cs typeface="PingFang SC"/>
              </a:rPr>
              <a:t>所有标签、票数、轮数与 cutsize 都由项目算法实际运行得出。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77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Su3037 · Clustering Lab 05 · 圈子从哪里来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0" y="6477000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4750"/>
              </a:lnSpc>
            </a:pPr>
            <a:r>
              <a:rPr sz="1050" b="0">
                <a:solidFill>
                  <a:srgbClr val="3B556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圈子从哪里来 · 标签传播课堂课件</dc:title>
  <dc:subject/>
  <dc:creator>Su3037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