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45e01e3d8a74c54" /><Relationship Type="http://schemas.openxmlformats.org/officeDocument/2006/relationships/extended-properties" Target="/docProps/app.xml" Id="R216bec188e19428a" /><Relationship Type="http://schemas.openxmlformats.org/officeDocument/2006/relationships/officeDocument" Target="/ppt/presentation.xml" Id="R9e80774a221040a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532a96a781145cb"/>
  </p:sldMasterIdLst>
  <p:notesMasterIdLst>
    <p:notesMasterId xmlns:r="http://schemas.openxmlformats.org/officeDocument/2006/relationships" r:id="Rcee3180dde104700"/>
  </p:notesMasterIdLst>
  <p:sldIdLst>
    <p:sldId xmlns:r="http://schemas.openxmlformats.org/officeDocument/2006/relationships" id="256" r:id="R963c7564029448da"/>
    <p:sldId xmlns:r="http://schemas.openxmlformats.org/officeDocument/2006/relationships" id="257" r:id="R335fbb9ea12a4b13"/>
    <p:sldId xmlns:r="http://schemas.openxmlformats.org/officeDocument/2006/relationships" id="258" r:id="Rc38908d6efa14d1d"/>
    <p:sldId xmlns:r="http://schemas.openxmlformats.org/officeDocument/2006/relationships" id="259" r:id="R348fd348f7d54514"/>
    <p:sldId xmlns:r="http://schemas.openxmlformats.org/officeDocument/2006/relationships" id="260" r:id="R915c26a7d18a4dbf"/>
    <p:sldId xmlns:r="http://schemas.openxmlformats.org/officeDocument/2006/relationships" id="261" r:id="R93dd540c99ed4ea8"/>
    <p:sldId xmlns:r="http://schemas.openxmlformats.org/officeDocument/2006/relationships" id="262" r:id="Rf7a18a890b5f4e28"/>
    <p:sldId xmlns:r="http://schemas.openxmlformats.org/officeDocument/2006/relationships" id="263" r:id="Ra29ff63f984b4ecb"/>
    <p:sldId xmlns:r="http://schemas.openxmlformats.org/officeDocument/2006/relationships" id="264" r:id="Refbbe18209f34eb1"/>
    <p:sldId xmlns:r="http://schemas.openxmlformats.org/officeDocument/2006/relationships" id="265" r:id="Rd014ec1bbe0d4e47"/>
    <p:sldId xmlns:r="http://schemas.openxmlformats.org/officeDocument/2006/relationships" id="266" r:id="R5b744b0569d540ca"/>
    <p:sldId xmlns:r="http://schemas.openxmlformats.org/officeDocument/2006/relationships" id="267" r:id="Rc8de1a51019f4f38"/>
    <p:sldId xmlns:r="http://schemas.openxmlformats.org/officeDocument/2006/relationships" id="268" r:id="Re00893dd96684ce3"/>
    <p:sldId xmlns:r="http://schemas.openxmlformats.org/officeDocument/2006/relationships" id="269" r:id="R883fae8aaa0244d4"/>
    <p:sldId xmlns:r="http://schemas.openxmlformats.org/officeDocument/2006/relationships" id="270" r:id="R2a1c6abbfcc14fe8"/>
    <p:sldId xmlns:r="http://schemas.openxmlformats.org/officeDocument/2006/relationships" id="271" r:id="R96dcf164c0d146d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db71380e7d4631" /><Relationship Type="http://schemas.openxmlformats.org/officeDocument/2006/relationships/slideMaster" Target="/ppt/slideMasters/slideMaster1.xml" Id="R8532a96a781145cb" /><Relationship Type="http://schemas.openxmlformats.org/officeDocument/2006/relationships/notesMaster" Target="/ppt/notesMasters/notesMaster1.xml" Id="Rcee3180dde104700" /><Relationship Type="http://schemas.openxmlformats.org/officeDocument/2006/relationships/presProps" Target="/ppt/presProps.xml" Id="R3ff787a74f79425e" /><Relationship Type="http://schemas.openxmlformats.org/officeDocument/2006/relationships/tableStyles" Target="/ppt/tableStyles.xml" Id="R09d63b8e236a4bb6" /><Relationship Type="http://schemas.openxmlformats.org/officeDocument/2006/relationships/slide" Target="/ppt/slides/slide1.xml" Id="R963c7564029448da" /><Relationship Type="http://schemas.openxmlformats.org/officeDocument/2006/relationships/slide" Target="/ppt/slides/slide2.xml" Id="R335fbb9ea12a4b13" /><Relationship Type="http://schemas.openxmlformats.org/officeDocument/2006/relationships/slide" Target="/ppt/slides/slide3.xml" Id="Rc38908d6efa14d1d" /><Relationship Type="http://schemas.openxmlformats.org/officeDocument/2006/relationships/slide" Target="/ppt/slides/slide4.xml" Id="R348fd348f7d54514" /><Relationship Type="http://schemas.openxmlformats.org/officeDocument/2006/relationships/slide" Target="/ppt/slides/slide5.xml" Id="R915c26a7d18a4dbf" /><Relationship Type="http://schemas.openxmlformats.org/officeDocument/2006/relationships/slide" Target="/ppt/slides/slide6.xml" Id="R93dd540c99ed4ea8" /><Relationship Type="http://schemas.openxmlformats.org/officeDocument/2006/relationships/slide" Target="/ppt/slides/slide7.xml" Id="Rf7a18a890b5f4e28" /><Relationship Type="http://schemas.openxmlformats.org/officeDocument/2006/relationships/slide" Target="/ppt/slides/slide8.xml" Id="Ra29ff63f984b4ecb" /><Relationship Type="http://schemas.openxmlformats.org/officeDocument/2006/relationships/slide" Target="/ppt/slides/slide9.xml" Id="Refbbe18209f34eb1" /><Relationship Type="http://schemas.openxmlformats.org/officeDocument/2006/relationships/slide" Target="/ppt/slides/slide10.xml" Id="Rd014ec1bbe0d4e47" /><Relationship Type="http://schemas.openxmlformats.org/officeDocument/2006/relationships/slide" Target="/ppt/slides/slide11.xml" Id="R5b744b0569d540ca" /><Relationship Type="http://schemas.openxmlformats.org/officeDocument/2006/relationships/slide" Target="/ppt/slides/slide12.xml" Id="Rc8de1a51019f4f38" /><Relationship Type="http://schemas.openxmlformats.org/officeDocument/2006/relationships/slide" Target="/ppt/slides/slide13.xml" Id="Re00893dd96684ce3" /><Relationship Type="http://schemas.openxmlformats.org/officeDocument/2006/relationships/slide" Target="/ppt/slides/slide14.xml" Id="R883fae8aaa0244d4" /><Relationship Type="http://schemas.openxmlformats.org/officeDocument/2006/relationships/slide" Target="/ppt/slides/slide15.xml" Id="R2a1c6abbfcc14fe8" /><Relationship Type="http://schemas.openxmlformats.org/officeDocument/2006/relationships/slide" Target="/ppt/slides/slide16.xml" Id="R96dcf164c0d146d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bacb28bfa345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iti SC"/>
        <a:ea typeface=""/>
        <a:cs typeface=""/>
      </a:majorFont>
      <a:minorFont>
        <a:latin typeface="Heiti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46c9937c67422b" /><Relationship Type="http://schemas.openxmlformats.org/officeDocument/2006/relationships/notesMaster" Target="/ppt/notesMasters/notesMaster1.xml" Id="Rec4ac7ac2e5c4c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4d8e129eba492b" /><Relationship Type="http://schemas.openxmlformats.org/officeDocument/2006/relationships/notesMaster" Target="/ppt/notesMasters/notesMaster1.xml" Id="R00c8cc8a535249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e44b8af167465e" /><Relationship Type="http://schemas.openxmlformats.org/officeDocument/2006/relationships/notesMaster" Target="/ppt/notesMasters/notesMaster1.xml" Id="Ra6f68b88d4de4a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b4d69f3da5434f" /><Relationship Type="http://schemas.openxmlformats.org/officeDocument/2006/relationships/notesMaster" Target="/ppt/notesMasters/notesMaster1.xml" Id="R3a4ac02733e44e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287d318f634de7" /><Relationship Type="http://schemas.openxmlformats.org/officeDocument/2006/relationships/notesMaster" Target="/ppt/notesMasters/notesMaster1.xml" Id="Ra8cc51e1be724f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5c4f3f73934044" /><Relationship Type="http://schemas.openxmlformats.org/officeDocument/2006/relationships/notesMaster" Target="/ppt/notesMasters/notesMaster1.xml" Id="Rbc27de418d434e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fa643feee8a4c02" /><Relationship Type="http://schemas.openxmlformats.org/officeDocument/2006/relationships/notesMaster" Target="/ppt/notesMasters/notesMaster1.xml" Id="R2eb5f5b516ae4fa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0d32460a4804079" /><Relationship Type="http://schemas.openxmlformats.org/officeDocument/2006/relationships/notesMaster" Target="/ppt/notesMasters/notesMaster1.xml" Id="Ra0da90e09778478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3c4aa71cb34fb2" /><Relationship Type="http://schemas.openxmlformats.org/officeDocument/2006/relationships/notesMaster" Target="/ppt/notesMasters/notesMaster1.xml" Id="R066952d57367400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e2182d3773544ef" /><Relationship Type="http://schemas.openxmlformats.org/officeDocument/2006/relationships/notesMaster" Target="/ppt/notesMasters/notesMaster1.xml" Id="R5077cdf23c1f49c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605dc0bea54283" /><Relationship Type="http://schemas.openxmlformats.org/officeDocument/2006/relationships/notesMaster" Target="/ppt/notesMasters/notesMaster1.xml" Id="R4b0ca384562d445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7a5e8f73e784864" /><Relationship Type="http://schemas.openxmlformats.org/officeDocument/2006/relationships/notesMaster" Target="/ppt/notesMasters/notesMaster1.xml" Id="Raca2cdd2455442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ae1d468dbcf4558" /><Relationship Type="http://schemas.openxmlformats.org/officeDocument/2006/relationships/notesMaster" Target="/ppt/notesMasters/notesMaster1.xml" Id="Rd5ffa387bc6d417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6a0832f35fb49fb" /><Relationship Type="http://schemas.openxmlformats.org/officeDocument/2006/relationships/notesMaster" Target="/ppt/notesMasters/notesMaster1.xml" Id="Rb35ce3993bf945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abb97d44a64669" /><Relationship Type="http://schemas.openxmlformats.org/officeDocument/2006/relationships/notesMaster" Target="/ppt/notesMasters/notesMaster1.xml" Id="R2dbc5d03ee7c40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f9e769b5fca4455" /><Relationship Type="http://schemas.openxmlformats.org/officeDocument/2006/relationships/notesMaster" Target="/ppt/notesMasters/notesMaster1.xml" Id="Rd98254cce49f452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开场播放原创短片《邻居的颜色》，3分49秒，无配音。随后选第4至11页讲解核心实例。作者 Su3037。图书馆为虚构结构类比，不用于判断真实个人。</a:t>
            </a:r>
          </a:p>
          <a:p xmlns:a="http://schemas.openxmlformats.org/drawingml/2006/main">
            <a:r>
              <a:t>https://github.com/yongfu-li/eda-learning/tree/main/courses/learn_clustering/module02-01-label-propagation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先问观众：没有指定组长，为什么经常相连的点仍可能形成群体？这里讨论的是图结构的分组，不是社会学因果。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课堂版本使用加权无向图。每轮依次更新，立即写回。平票按标签字典序最小。孤点保留原标签。原论文还有其他顺序和平票变体。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图结构与权重来自教师指定 tiny_graph。边权总和18。不是运行真实EDA工具。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A看到B标签5票，C标签1票，因此A选择B。B随后读取已经更新的A，这是异步更新。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这一刻A和B均带标签B，C通过AC和BC收到同标签的1+4=5票。不能只选最粗的单条边，也不是按邻居人数多数。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逐个解释A、B、C、D、E。变化节点A、C、D共3个。此时已经形成两组，但还未完成零变化确认轮。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第2轮零变化，所以iters=2包含确认轮。跨组的是CD与CE两条边，权重和3。切边数与加权cutsize区分。样例特定结果，不是普遍性质。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双节点图初始A/B。同步整轮读旧值会轮流B/A与A/B。异步A先变B，B随后看到B而不变。实验检测重复状态并报告cycle，不伪称stable。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实际独立运行：正序B/B/B/E/E，两轮；倒序A/A/A/D/D，三轮。分区相同但标签名不同。其他图或参数可能得到不同分区，不把本图的结果推广为总是相同。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最小标签、最大标签、保留当前优先都是可定义的教学变体。默认教师规则是min。三种停止原因分别对应stable/cycle/limit。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LP可作为粗化或初始社区线索。图模型是教学简化，实际网表可能包含超边，还需适合的模型与约束。不会保证两组、平衡或最优切割。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回扣图书馆。模型里的标签依赖观察关系与权重，不能推出因果或人的本质。现实意义是提醒记录建模选择，重新观察边界，不是用算法替人贴标签。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说明课程共建的增量，而非发明新算法。原材料已经有五节点图，本项目补充中文无配音知识动画、真实逐节点记录、同步振荡反例、改参实验、练习解析和复现测试。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切换网页到#lab。先让同学预测C的选择，再逐节点验证。切换两节点图同步运行观察cycle，最后改变桥边权重。无需完成所有实验。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来源完整链接列入本页备注。教师文件无独立开源许可声明，因此不再分发其课件、视频或课程私密资料。只引用事实与小图数据并注明来源。原创代码MIT，原创教材与媒体CC BY4.0，第三方各遵原许可。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资料：https://github.com/yongfu-li/eda-learning/tree/main/courses/learn_clustering/module02-01-label-propagation</a:t>
            </a:r>
          </a:p>
          <a:p xmlns:a="http://schemas.openxmlformats.org/drawingml/2006/main">
            <a:r>
              <a:t>https://arxiv.org/abs/0709.2938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4b30c022c34dd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33c5f6658047e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a0d9047e10455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ae0d1ef92f41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c55500262d4a8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9d75796e5b48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734487A-5208-44BE-A585-657F922585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71FA62-374B-4E02-A3C1-D320045C4FE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E096118-03F3-4AD9-A8CE-5F5402B5B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FF1F136-8EAB-4ABB-9A3C-10214F0C41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E8022E5-55D0-4DF7-B63F-A601B322FA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686441A-2680-4A59-86DF-51456776A5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4CD5713-3E19-4D67-9DB6-912A28E6C17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1478AFF-7D93-4F43-BBBE-53B829CAE0F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9969DE-5D3E-4557-BD80-632A32CDDF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2C1CA98-BDE2-44BC-BC6A-0467E15E49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f446769c2a4727" /><Relationship Type="http://schemas.openxmlformats.org/officeDocument/2006/relationships/slideLayout" Target="/ppt/slideLayouts/slideLayout1.xml" Id="Raf088227a44348e5" /><Relationship Type="http://schemas.openxmlformats.org/officeDocument/2006/relationships/slideLayout" Target="/ppt/slideLayouts/slideLayout2.xml" Id="R543168ae418e4b89" /><Relationship Type="http://schemas.openxmlformats.org/officeDocument/2006/relationships/slideLayout" Target="/ppt/slideLayouts/slideLayout3.xml" Id="Rec5f1a13c2c04ff0" /><Relationship Type="http://schemas.openxmlformats.org/officeDocument/2006/relationships/slideLayout" Target="/ppt/slideLayouts/slideLayout4.xml" Id="Reabf03984a8d4618" /><Relationship Type="http://schemas.openxmlformats.org/officeDocument/2006/relationships/slideLayout" Target="/ppt/slideLayouts/slideLayout5.xml" Id="Rd61077576c2f4893" /><Relationship Type="http://schemas.openxmlformats.org/officeDocument/2006/relationships/slideLayout" Target="/ppt/slideLayouts/slideLayout6.xml" Id="R2e992445f2e54e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088227a44348e5"/>
    <p:sldLayoutId xmlns:r="http://schemas.openxmlformats.org/officeDocument/2006/relationships" id="2147483650" r:id="R543168ae418e4b89"/>
    <p:sldLayoutId xmlns:r="http://schemas.openxmlformats.org/officeDocument/2006/relationships" id="2147483651" r:id="Rec5f1a13c2c04ff0"/>
    <p:sldLayoutId xmlns:r="http://schemas.openxmlformats.org/officeDocument/2006/relationships" id="2147483652" r:id="Reabf03984a8d4618"/>
    <p:sldLayoutId xmlns:r="http://schemas.openxmlformats.org/officeDocument/2006/relationships" id="2147483653" r:id="Rd61077576c2f4893"/>
    <p:sldLayoutId xmlns:r="http://schemas.openxmlformats.org/officeDocument/2006/relationships" id="2147483654" r:id="R2e992445f2e54e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iti SC"/>
        <a:ea typeface=""/>
        <a:cs typeface=""/>
      </a:majorFont>
      <a:minorFont>
        <a:latin typeface="Heiti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e2676405d84e28" /><Relationship Type="http://schemas.openxmlformats.org/officeDocument/2006/relationships/image" Target="/ppt/media/image.jpeg" Id="R69a2bb01e8aa4b32" /><Relationship Type="http://schemas.openxmlformats.org/officeDocument/2006/relationships/notesSlide" Target="/ppt/notesSlides/notesSlide1.xml" Id="R23d5cf6668c445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e100963e04477d" /><Relationship Type="http://schemas.openxmlformats.org/officeDocument/2006/relationships/notesSlide" Target="/ppt/notesSlides/notesSlide2.xml" Id="R46aaa74da27a44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e77ca0bdf34633" /><Relationship Type="http://schemas.openxmlformats.org/officeDocument/2006/relationships/notesSlide" Target="/ppt/notesSlides/notesSlide3.xml" Id="Rd9d172b28428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54f1560af2416d" /><Relationship Type="http://schemas.openxmlformats.org/officeDocument/2006/relationships/notesSlide" Target="/ppt/notesSlides/notesSlide4.xml" Id="Rdeae4bb73ef44ef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e06faca2764047" /><Relationship Type="http://schemas.openxmlformats.org/officeDocument/2006/relationships/notesSlide" Target="/ppt/notesSlides/notesSlide5.xml" Id="Rbfe7494eaada4f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8c9736608344dc" /><Relationship Type="http://schemas.openxmlformats.org/officeDocument/2006/relationships/notesSlide" Target="/ppt/notesSlides/notesSlide6.xml" Id="R04c4da7084e140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dba446d1ef4c72" /><Relationship Type="http://schemas.openxmlformats.org/officeDocument/2006/relationships/notesSlide" Target="/ppt/notesSlides/notesSlide7.xml" Id="Rd2742c44d8ba4e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6e1662ff7a48c2" /><Relationship Type="http://schemas.openxmlformats.org/officeDocument/2006/relationships/notesSlide" Target="/ppt/notesSlides/notesSlide8.xml" Id="R3689e0b19ec146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76ba9af26d4f5f" /><Relationship Type="http://schemas.openxmlformats.org/officeDocument/2006/relationships/notesSlide" Target="/ppt/notesSlides/notesSlide9.xml" Id="R75c73f1bc26744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9e1c053ab2411d" /><Relationship Type="http://schemas.openxmlformats.org/officeDocument/2006/relationships/notesSlide" Target="/ppt/notesSlides/notesSlide10.xml" Id="Rb5b19feaf891423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52da2b5e0f4e1e" /><Relationship Type="http://schemas.openxmlformats.org/officeDocument/2006/relationships/notesSlide" Target="/ppt/notesSlides/notesSlide11.xml" Id="R52b2abcaaeb94be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19f91845fa469a" /><Relationship Type="http://schemas.openxmlformats.org/officeDocument/2006/relationships/notesSlide" Target="/ppt/notesSlides/notesSlide12.xml" Id="R17bc6421cac9487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db42c4ffc24ce2" /><Relationship Type="http://schemas.openxmlformats.org/officeDocument/2006/relationships/notesSlide" Target="/ppt/notesSlides/notesSlide13.xml" Id="R951372d4ab72460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278e96595c4259" /><Relationship Type="http://schemas.openxmlformats.org/officeDocument/2006/relationships/notesSlide" Target="/ppt/notesSlides/notesSlide14.xml" Id="R7f4637a6bd9f447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e299c69dd04788" /><Relationship Type="http://schemas.openxmlformats.org/officeDocument/2006/relationships/notesSlide" Target="/ppt/notesSlides/notesSlide15.xml" Id="R2f7e300cf857496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a52211499048d7" /><Relationship Type="http://schemas.openxmlformats.org/officeDocument/2006/relationships/notesSlide" Target="/ppt/notesSlides/notesSlide16.xml" Id="R7d4264103ef548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19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129E46-42AE-48A9-928E-B20AA7B486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a2bb01e8aa4b3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5692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53DF40-4AB5-4933-81AD-61954833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连接与群体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7901E-EA98-4AF2-95A6-76CD5E3E9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39C501-F136-4A66-930C-1F847C6E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7D86D-4C18-48A5-AFA0-B2A698B9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76375" y="1924050"/>
            <a:ext cx="20955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2355C5-CBAB-41EC-9D3A-A3267771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66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99EACE-3419-4257-8901-6CF8C190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476375" y="2171700"/>
            <a:ext cx="1428750" cy="1495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60B124-F47D-45B1-BF9A-EE9F2652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384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8DDE69-AE93-439D-BDEA-5663E120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905125" y="1924050"/>
            <a:ext cx="666750" cy="1743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78948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A502EB-46F5-4DA7-91B7-1BF2510F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146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D534A0-71E2-4111-B9D6-02201849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304800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8948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6B982A-9A80-42C6-808C-94CFBC9C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052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1B356F-506D-4DAB-8011-97938F74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905375" y="3905250"/>
            <a:ext cx="1047750" cy="1381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E701D4-8399-4612-86B4-7713FC69D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148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02EC57-777B-4468-93AD-87D1EBC94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2000250" cy="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52AC74-1EC2-4EA9-B61B-C1A6DF4A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29577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253E7B-5F4D-4D46-A5BC-4F6FD014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050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57A2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723D84-80FB-4AE3-9FE3-A508B204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9072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57A20"/>
                </a:solidFill>
                <a:latin typeface="Heiti SC"/>
                <a:ea typeface="Heiti SC"/>
                <a:cs typeface="Heiti SC"/>
              </a:rPr>
              <a:t>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4FECF4-CEAB-4B7A-8EB3-861EBD5C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1460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57A20"/>
                </a:solidFill>
                <a:latin typeface="Heiti SC"/>
                <a:ea typeface="Heiti SC"/>
                <a:cs typeface="Heiti SC"/>
              </a:rPr>
              <a:t>标签 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7E627-2EF5-42CC-A96C-EEC4D7E2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57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1FD97-D3DE-4BDE-B99A-EE1AC587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7430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CC869-0F50-4D57-A0DA-25A37B79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669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D2CE42-7E62-48AA-93BA-3A9D1E811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004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B76529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8B87A9-6276-498A-A790-1DF12B3D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861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B76529"/>
                </a:solidFill>
                <a:latin typeface="Heiti SC"/>
                <a:ea typeface="Heiti SC"/>
                <a:cs typeface="Heiti SC"/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0148BA-38B0-4253-8665-4FFCDD2E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01002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B76529"/>
                </a:solidFill>
                <a:latin typeface="Heiti SC"/>
                <a:ea typeface="Heiti SC"/>
                <a:cs typeface="Heiti SC"/>
              </a:rPr>
              <a:t>标签 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A852A6-8E98-4FAF-9265-8BDD367E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6385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315CB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5EDCED-3229-4A85-8C6D-40ECB489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242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315CBA"/>
                </a:solidFill>
                <a:latin typeface="Heiti SC"/>
                <a:ea typeface="Heiti SC"/>
                <a:cs typeface="Heiti SC"/>
              </a:rPr>
              <a:t>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F703E4-F8A4-4FBB-9C01-09238C3A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481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315CBA"/>
                </a:solidFill>
                <a:latin typeface="Heiti SC"/>
                <a:ea typeface="Heiti SC"/>
                <a:cs typeface="Heiti SC"/>
              </a:rPr>
              <a:t>标签 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5403BF-7F49-4216-91CF-DF99453B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0196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4417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E29700-41E7-463F-9070-A36C6193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105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085E03-3D5C-46F1-BE6F-9238D78B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2927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标签 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B3EA91-B9C2-4D4D-BBA8-9A29DD79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905000"/>
            <a:ext cx="395287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每个点先有自己的标签。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反复采用邻居的优势标签。</a:t>
            </a:r>
          </a:p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群体可能逐渐形成。</a:t>
            </a:r>
          </a:p>
        </p:txBody>
      </p:sp>
    </p:spTree>
    <p:extLst>
      <p:ext uri="{BB962C8B-B14F-4D97-AF65-F5344CB8AC3E}">
        <p14:creationId xmlns:p14="http://schemas.microsoft.com/office/powerpoint/2010/main" val="20869199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23290-55DA-4257-BB2C-C2558A100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课堂采用的确定性规则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3FCE4-8F6E-42E5-88E1-989CF858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550ECD-FF7E-4AF1-97CD-B3B64C43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AE0B1C-527F-4279-9B0C-C6A12F183412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238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8877300"/>
              </a:tblGrid>
              <a:tr h="706438"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部分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本项目默认规则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</a:tr>
              <a:tr h="706438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初始化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每个节点以自身名称为标签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  <a:tr h="706438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票数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按邻居当前标签累计边权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</a:tr>
              <a:tr h="706438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更新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异步，按 A 到 E 依次写回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  <a:tr h="706438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平票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取字典序最小的标签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</a:tr>
              <a:tr h="706438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停止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一整轮没有任何改变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80905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3616D0-35CA-42A4-9B58-51E45259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五节点的加权图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CDB961-7DE2-44AB-92C5-7E21B9953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3C4E12-4E93-40A4-B392-A7BE04B1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6B866A-1C1A-4918-AD9A-DB0FF316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76375" y="1924050"/>
            <a:ext cx="20955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B4486-83ED-4D19-9571-3718E04E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66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3A5F0-A6ED-4E78-A1A4-A6C76769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476375" y="2171700"/>
            <a:ext cx="1428750" cy="1495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7E9E48-F3CD-46CB-A287-F5243844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384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3659ED-3C68-492F-9CC2-9FDBCC3B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905125" y="1924050"/>
            <a:ext cx="666750" cy="1743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78948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96A7B-4EB7-4332-B36F-C06E2547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146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9B99F-2B11-486B-A4B7-CB6CD0BD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304800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8948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FA7E8-1E74-48C0-928E-BFB59498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052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9D7AD5-A5B9-470C-9902-9940E201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905375" y="3905250"/>
            <a:ext cx="1047750" cy="1381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6AAA5F-4FFF-4D19-B55D-2E8FAD15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148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55BA1A-EA5E-4234-901F-386312B5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2000250" cy="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327306-F7A5-4080-A1DD-2033C5F8D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29577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BF1F8E-C4B2-4646-9900-B0865E6B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050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57A20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56D315-DDDC-4547-AAE4-E486B6565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9072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57A20"/>
                </a:solidFill>
                <a:latin typeface="Heiti SC"/>
                <a:ea typeface="Heiti SC"/>
                <a:cs typeface="Heiti SC"/>
              </a:rPr>
              <a:t>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07FE20-7596-4BB4-90D5-B96E9F3B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1460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57A2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57A20"/>
                </a:solidFill>
                <a:latin typeface="Heiti SC"/>
                <a:ea typeface="Heiti SC"/>
                <a:cs typeface="Heiti SC"/>
              </a:rPr>
              <a:t>标签 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B03386-8A91-4D59-9DB5-ACE3065C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57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DE39F-7AD9-4F6B-9377-2A409145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7430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B45AF2-4D5B-4752-ACA3-77407E05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669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4A7455-56FD-4F4A-B3B9-B17D47F8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004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B76529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A808F2-48FC-45A5-B741-CFFD4A9A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861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B76529"/>
                </a:solidFill>
                <a:latin typeface="Heiti SC"/>
                <a:ea typeface="Heiti SC"/>
                <a:cs typeface="Heiti SC"/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A34D63-FBE5-41C7-97C4-77AB7180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01002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B76529"/>
                </a:solidFill>
                <a:latin typeface="Heiti SC"/>
                <a:ea typeface="Heiti SC"/>
                <a:cs typeface="Heiti SC"/>
              </a:rPr>
              <a:t>标签 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92DE08-80C3-4866-BD3A-3127D4E4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6385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315CB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101ADF-F50A-4F7B-9AB4-17F4479C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242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315CBA"/>
                </a:solidFill>
                <a:latin typeface="Heiti SC"/>
                <a:ea typeface="Heiti SC"/>
                <a:cs typeface="Heiti SC"/>
              </a:rPr>
              <a:t>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2DF234-FCE0-49D9-B8BF-A04BB11E4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481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315CBA"/>
                </a:solidFill>
                <a:latin typeface="Heiti SC"/>
                <a:ea typeface="Heiti SC"/>
                <a:cs typeface="Heiti SC"/>
              </a:rPr>
              <a:t>标签 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A3D38F-2827-43CB-94CD-5F95D52F2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0196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4417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41E476-C54C-484D-A131-2113FB85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105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BF9237-F3C4-4B65-B3AE-5AB3E434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2927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标签 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7101F18-C86E-4D08-9DB5-94F9BB2D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952625"/>
            <a:ext cx="395287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AB=5，AC=1，BC=4</a:t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CD=2，DE=5，CE=1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固定图和访问顺序。</a:t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约定平票规则。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再讨论结果。</a:t>
            </a:r>
          </a:p>
        </p:txBody>
      </p:sp>
    </p:spTree>
    <p:extLst>
      <p:ext uri="{BB962C8B-B14F-4D97-AF65-F5344CB8AC3E}">
        <p14:creationId xmlns:p14="http://schemas.microsoft.com/office/powerpoint/2010/main" val="7093677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BA7822-355D-4EF9-8871-84207106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A 的第一次更新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73228C-5242-4F8F-A560-D0757E3F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8577A-6C01-4AB1-9114-13C046B7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564AA-1417-4D6D-B133-F030DF1C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76375" y="1924050"/>
            <a:ext cx="20955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5730D-2900-4CB7-806B-75C64ABB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66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E9E687-EF3A-4AB8-B13F-D36289CC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476375" y="2171700"/>
            <a:ext cx="1428750" cy="1495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64C2B-AC48-4D08-9498-01C0AD1E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384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E5D836-D2B3-4B83-9C88-BD2754AA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905125" y="1924050"/>
            <a:ext cx="666750" cy="1743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78948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8E7D3E-D3AB-4441-8425-04143A62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146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C26DC-A1B4-4019-96EA-8A297CE3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304800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8948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077A9A-8FA7-4390-B5F9-57B8F460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052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8298E4-C4CA-4E80-9414-C1E456AA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905375" y="3905250"/>
            <a:ext cx="1047750" cy="1381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84730A-5E88-40B1-B945-F0344AD4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148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511544-6725-4F8C-9D93-006EA6A9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2000250" cy="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9D07A-E439-4CF2-A176-43BB780A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29577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DC9EF8-756A-449D-ADBF-87B01AB4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050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E95575-9904-49E6-87A5-C55673A7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9072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323C9-801D-431D-92BD-6733C318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1460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9C3DF0-1320-4AF5-BFEC-E9A0B770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57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9918C7-B6BB-4DD3-A7B4-034BEAD5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7430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FF76F7-C4D8-4D65-A00E-C88382BA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669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714F26-FC73-4F70-9EEB-8197D31E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004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B76529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6C8887-2778-4686-B2B1-DCAFB4C7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861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B76529"/>
                </a:solidFill>
                <a:latin typeface="Heiti SC"/>
                <a:ea typeface="Heiti SC"/>
                <a:cs typeface="Heiti SC"/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541BD8-E646-4F73-B95D-876995D45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01002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B76529"/>
                </a:solidFill>
                <a:latin typeface="Heiti SC"/>
                <a:ea typeface="Heiti SC"/>
                <a:cs typeface="Heiti SC"/>
              </a:rPr>
              <a:t>标签 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0B1581-AD57-48CB-A1E8-5EBFF962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6385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315CB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D14719-D70F-45F7-AB84-1AE881919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242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315CBA"/>
                </a:solidFill>
                <a:latin typeface="Heiti SC"/>
                <a:ea typeface="Heiti SC"/>
                <a:cs typeface="Heiti SC"/>
              </a:rPr>
              <a:t>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5753DD-0970-486B-B34A-43FB3399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481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315CBA"/>
                </a:solidFill>
                <a:latin typeface="Heiti SC"/>
                <a:ea typeface="Heiti SC"/>
                <a:cs typeface="Heiti SC"/>
              </a:rPr>
              <a:t>标签 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9DB46D-D617-486D-935D-39D823A4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0196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4417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2662A57-0DA3-441F-A6DF-810147C3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105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E07BD-9BEC-4EEF-AB39-8F3A332B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2927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标签 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46FFC66-64CA-4B73-8619-08240F2B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905000"/>
            <a:ext cx="395287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B 标签得到 5 票</a:t>
            </a:r>
          </a:p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C 标签得到 1 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A 的标签改为 B。</a:t>
            </a:r>
          </a:p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后续节点立即看见这个变化。</a:t>
            </a:r>
          </a:p>
        </p:txBody>
      </p:sp>
    </p:spTree>
    <p:extLst>
      <p:ext uri="{BB962C8B-B14F-4D97-AF65-F5344CB8AC3E}">
        <p14:creationId xmlns:p14="http://schemas.microsoft.com/office/powerpoint/2010/main" val="11269866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E7360EA-C4DA-4C25-86D2-2967DF35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C 的票数按标签累加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4ECCF-5C77-4B96-B26D-C4671BA8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F84973-D9B5-43AF-9486-E44011A0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ACA9F-C907-476E-9488-07AA7CBE3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76375" y="1924050"/>
            <a:ext cx="20955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2BCF5-F3F2-4605-A9E9-41E56D2F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66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A22650-F1A5-4CEE-B040-97B60D18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476375" y="2171700"/>
            <a:ext cx="1428750" cy="1495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B83D97-316D-4F45-94EF-886F72E50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384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7E729-5E28-489D-A8E4-CA76FA80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905125" y="1924050"/>
            <a:ext cx="666750" cy="1743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78948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A95B5-1641-4827-9929-21C868E2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146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A5D22-FD3C-4C90-B412-97F2AE8E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304800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8948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13A884-E4D1-4268-8A22-A1D20C44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052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2F2D82-053E-4950-871C-0126A9C9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905375" y="3905250"/>
            <a:ext cx="1047750" cy="1381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BE56A-0F14-465C-884B-B58226289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148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CF9BD4-45DC-4173-A7B5-5CC934C7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2000250" cy="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9801FB-67E4-4B04-A27A-1186E131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29577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ACF595-1F92-435D-9864-2CD5AA33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050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A0A304-C1D1-4DA9-8104-94A449CB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9072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DDB105-E404-4008-AAB3-CC47F28D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1460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8E277-0B75-4038-93ED-0A1D773D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57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61BF67-BE51-4C59-958B-D3080165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7430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3B3D37-A5EE-4FA0-B27E-0C0102BD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669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FE5DA2-09A5-4BF5-95B8-056040D0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004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B76529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5F74BC-1151-41F2-B09B-E45B95DA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861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B76529"/>
                </a:solidFill>
                <a:latin typeface="Heiti SC"/>
                <a:ea typeface="Heiti SC"/>
                <a:cs typeface="Heiti SC"/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E4D188-954B-462F-8556-41A0257B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01002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B76529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B76529"/>
                </a:solidFill>
                <a:latin typeface="Heiti SC"/>
                <a:ea typeface="Heiti SC"/>
                <a:cs typeface="Heiti SC"/>
              </a:rPr>
              <a:t>标签 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8352D5-A380-4EE9-821B-3A682E67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6385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315CBA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FD93C4-541E-423C-8B91-F32E61F0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242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315CBA"/>
                </a:solidFill>
                <a:latin typeface="Heiti SC"/>
                <a:ea typeface="Heiti SC"/>
                <a:cs typeface="Heiti SC"/>
              </a:rPr>
              <a:t>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D6F017-65F2-4EF9-BE82-1C4975F0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481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315CBA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315CBA"/>
                </a:solidFill>
                <a:latin typeface="Heiti SC"/>
                <a:ea typeface="Heiti SC"/>
                <a:cs typeface="Heiti SC"/>
              </a:rPr>
              <a:t>标签 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DD57D5C-BB9B-4F61-B301-A5746485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0196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4417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A1CB90-E392-4894-A0D8-C0F592ED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105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374013-BFB7-48A6-9C31-AF7CD264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2927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标签 E</a:t>
            </a:r>
          </a:p>
        </p:txBody>
      </p:sp>
      <p:graphicFrame>
        <p:nvGraphicFrame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80B90F-56CE-4101-B8C7-1F232C6BC073}"/>
              </a:ext>
            </a:extLst>
          </p:cNvPr>
          <p:cNvGraphicFramePr/>
          <p:nvPr/>
        </p:nvGraphicFramePr>
        <p:xfrm>
          <a:off xmlns:a="http://schemas.openxmlformats.org/drawingml/2006/main" x="7620000" y="1952625"/>
          <a:ext xmlns:a="http://schemas.openxmlformats.org/drawingml/2006/main" cx="390525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8250"/>
                <a:gridCol w="2667000"/>
              </a:tblGrid>
              <a:tr h="642938"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标签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权重和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</a:tr>
              <a:tr h="642938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1 + 4 = 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  <a:tr h="642938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</a:tr>
              <a:tr h="642938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EBEA49-79F0-42FD-A78C-654BBBB7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53000"/>
            <a:ext cx="3905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defPPr>
            <a:lvl1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1pPr>
            <a:lvl2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2pPr>
            <a:lvl3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3pPr>
            <a:lvl4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4pPr>
            <a:lvl5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5pPr>
            <a:lvl6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6pPr>
            <a:lvl7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7pPr>
            <a:lvl8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8pPr>
            <a:lvl9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pPr>
            <a:r>
              <a:rPr sz="2550" b="1">
                <a:solidFill>
                  <a:srgbClr val="0F6B5C"/>
                </a:solidFill>
                <a:latin typeface="Heiti SC"/>
                <a:ea typeface="Heiti SC"/>
                <a:cs typeface="Heiti SC"/>
              </a:rPr>
              <a:t>C 因此选择 B</a:t>
            </a:r>
          </a:p>
        </p:txBody>
      </p:sp>
    </p:spTree>
    <p:extLst>
      <p:ext uri="{BB962C8B-B14F-4D97-AF65-F5344CB8AC3E}">
        <p14:creationId xmlns:p14="http://schemas.microsoft.com/office/powerpoint/2010/main" val="18159570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517F02-AAFA-4FF9-96AC-0EBF76CB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第一轮的完整记录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6CFEBE-7DFA-4DBB-B0ED-8AD6F670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73C7D-2397-459A-845E-C6AFD0D4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62555-79D1-4CDD-A575-00B4FC003A21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2667000"/>
                <a:gridCol w="2667000"/>
                <a:gridCol w="3448050"/>
              </a:tblGrid>
              <a:tr h="635000"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访问节点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更新前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更新后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发生改变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</a:tr>
              <a:tr h="63500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  <a:tr h="63500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否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</a:tr>
              <a:tr h="63500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C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  <a:tr h="63500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</a:tr>
              <a:tr h="63500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否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F8E2F2-27A7-4B6B-AAA8-16670AE6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defPPr>
            <a:lvl1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1pPr>
            <a:lvl2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2pPr>
            <a:lvl3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3pPr>
            <a:lvl4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4pPr>
            <a:lvl5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5pPr>
            <a:lvl6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6pPr>
            <a:lvl7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7pPr>
            <a:lvl8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8pPr>
            <a:lvl9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pPr>
            <a:r>
              <a:rPr sz="2400" b="1">
                <a:solidFill>
                  <a:srgbClr val="0F6B5C"/>
                </a:solidFill>
                <a:latin typeface="Heiti SC"/>
                <a:ea typeface="Heiti SC"/>
                <a:cs typeface="Heiti SC"/>
              </a:rPr>
              <a:t>轮末标签：B  B  B  E  E</a:t>
            </a:r>
          </a:p>
        </p:txBody>
      </p:sp>
    </p:spTree>
    <p:extLst>
      <p:ext uri="{BB962C8B-B14F-4D97-AF65-F5344CB8AC3E}">
        <p14:creationId xmlns:p14="http://schemas.microsoft.com/office/powerpoint/2010/main" val="8716810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26A44F-362F-4887-944F-796D3AEA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稳定确认与加权割边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86E036-F050-4880-8305-47A52D52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F4931C-8943-4023-92BB-7BA5370D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CA075-9630-4561-B88A-CE92589A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76375" y="1924050"/>
            <a:ext cx="20955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5850B-60D7-4201-A486-3942D9F2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66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243C18-718B-445A-9591-77A70D72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476375" y="2171700"/>
            <a:ext cx="1428750" cy="1495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22BC59-5DA5-4DD0-990F-7E61C5FD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384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789F3-EB5C-44B0-8AC7-A98C22DC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905125" y="1924050"/>
            <a:ext cx="666750" cy="1743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78948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80FA56-C58C-47D7-94E3-4C4776A0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146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E5A91-7C0D-4D03-85ED-2FAA2FB8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304800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9A6B12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7F437E-50FF-4507-BA51-14529D07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052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9A6B12"/>
                </a:solidFill>
                <a:latin typeface="Heiti SC"/>
                <a:ea typeface="Heiti SC"/>
                <a:cs typeface="Heiti SC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731E3-6B76-44CA-AB28-8F393AA7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905375" y="3905250"/>
            <a:ext cx="1047750" cy="1381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5926D-0A98-4B7A-BAD3-CA586072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148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174D4C-E98E-4FFC-A3EE-DC32BE08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2000250" cy="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9A6B1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C4246-4599-426D-899A-49CD7924A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29577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9A6B12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9A6B12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D39FAF-0B2F-42D0-B235-DBC5DB21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050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98798D-5179-4032-8FEC-447F1C93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9072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15BA01-900A-422A-AFBF-ACB0BB21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1460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1A9FD2-F1FD-4B45-852B-C7E92C49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57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1688A5-61F8-47F4-9D33-F0C29D27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7430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2FBEA2-EBA4-41CB-8C85-C5847191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669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9401E9-C90A-457B-8DED-F6E14677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004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20C0AA-A9FC-4612-B0CC-2C233C1B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861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73FBB2-DE0A-40FB-9B25-97F1889C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01002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CF84E4-189D-45B4-966D-B8EDA6D7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6385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44170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E6E001-DEDA-4634-8131-3A98946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242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97F73F-68B2-4F4A-A284-B7DB3717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481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标签 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2F26C4-B1DA-4F38-9CB3-538B79421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0196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4417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CA19C3-3A45-4E22-962E-4E7F257B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105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AD19B3-ABB4-4FA4-96D0-DBBC306D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2927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标签 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1D1574-E63E-4DAB-A050-59CCD0FC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952625"/>
            <a:ext cx="395287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第 2 轮：0 次改变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跨组边：CD 与 CE</a:t>
            </a:r>
          </a:p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cutsize = 2 + 1 = 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分组规模：3 : 2</a:t>
            </a:r>
          </a:p>
        </p:txBody>
      </p:sp>
    </p:spTree>
    <p:extLst>
      <p:ext uri="{BB962C8B-B14F-4D97-AF65-F5344CB8AC3E}">
        <p14:creationId xmlns:p14="http://schemas.microsoft.com/office/powerpoint/2010/main" val="17679222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096E7C-81DA-450A-85DF-E2F61FD1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同步更新可能振荡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8EA5-CDBD-4F83-8F08-F4B731EC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59C8F7-0762-45DA-A515-91904919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09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8BFFC-BF99-4524-A058-FAC0474426BA}"/>
              </a:ext>
            </a:extLst>
          </p:cNvPr>
          <p:cNvGraphicFramePr/>
          <p:nvPr/>
        </p:nvGraphicFramePr>
        <p:xfrm>
          <a:off xmlns:a="http://schemas.openxmlformats.org/drawingml/2006/main" x="609600" y="157162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4391025"/>
                <a:gridCol w="4391025"/>
              </a:tblGrid>
              <a:tr h="742950"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轮次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同步 A / 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异步 A / 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</a:tr>
              <a:tr h="74295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初始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A / 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A / 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  <a:tr h="74295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第1轮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 / 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 / 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</a:tr>
              <a:tr h="74295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第2轮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A / 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 / B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  <a:tr h="742950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停止原因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检测到重复状态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整轮零变化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AFA78-9BA1-4ED0-AA8C-608C5894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defPPr>
            <a:lvl1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1pPr>
            <a:lvl2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2pPr>
            <a:lvl3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3pPr>
            <a:lvl4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4pPr>
            <a:lvl5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5pPr>
            <a:lvl6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6pPr>
            <a:lvl7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7pPr>
            <a:lvl8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8pPr>
            <a:lvl9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pPr>
            <a:r>
              <a:rPr sz="2250" b="0">
                <a:solidFill>
                  <a:srgbClr val="0F6B5C"/>
                </a:solidFill>
                <a:latin typeface="Heiti SC"/>
                <a:ea typeface="Heiti SC"/>
                <a:cs typeface="Heiti SC"/>
              </a:rPr>
              <a:t>读取哪个时刻的邻居标签，会改变过程</a:t>
            </a:r>
          </a:p>
        </p:txBody>
      </p:sp>
    </p:spTree>
    <p:extLst>
      <p:ext uri="{BB962C8B-B14F-4D97-AF65-F5344CB8AC3E}">
        <p14:creationId xmlns:p14="http://schemas.microsoft.com/office/powerpoint/2010/main" val="78903729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994B5-73C8-423F-B643-00DB6953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访问顺序与标签名字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81E79D-1DB7-44CC-940B-C4D44B4C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1DA5ED-533C-492B-9A64-E7930084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10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10A92-6055-4D17-8C35-98E4AC0BAFD8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2524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6210300"/>
                <a:gridCol w="2381250"/>
              </a:tblGrid>
              <a:tr h="841375"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顺序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最终标签 A B C D 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iti SC"/>
                          <a:ea typeface="Heiti SC"/>
                          <a:cs typeface="Heiti SC"/>
                        </a:rPr>
                        <a:t>确认轮数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T w="9525">
                      <a:solidFill>
                        <a:srgbClr val="D5CDC0"/>
                      </a:solidFill>
                      <a:prstDash val="solid"/>
                    </a:lnT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0F6B5C"/>
                    </a:solidFill>
                  </a:tcPr>
                </a:tc>
              </a:tr>
              <a:tr h="841375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A B C D 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B B B E 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FFDF8"/>
                    </a:solidFill>
                  </a:tcPr>
                </a:tc>
              </a:tr>
              <a:tr h="841375"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E D C B 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5CDC0"/>
                      </a:solidFill>
                      <a:prstDash val="solid"/>
                    </a:lnL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A A A D 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  <a:tc>
                  <a:txBody>
                    <a:bodyPr lIns="114300" tIns="114300" rIns="114300" bIns="114300"/>
                    <a:lstStyle/>
                    <a:p>
                      <a:r>
                        <a:rPr sz="1875" b="0">
                          <a:solidFill>
                            <a:srgbClr val="1C2421"/>
                          </a:solidFill>
                          <a:latin typeface="Heiti SC"/>
                          <a:ea typeface="Heiti SC"/>
                          <a:cs typeface="Heiti SC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5CDC0"/>
                      </a:solidFill>
                      <a:prstDash val="solid"/>
                    </a:lnR>
                    <a:lnB w="9525">
                      <a:solidFill>
                        <a:srgbClr val="D5CDC0"/>
                      </a:solidFill>
                      <a:prstDash val="solid"/>
                    </a:lnB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15D9D-AC70-4624-8C1B-B28C2AF8C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比较分区时，需要区分“标签叫什么”和“哪些点在一起”</a:t>
            </a:r>
          </a:p>
        </p:txBody>
      </p:sp>
    </p:spTree>
    <p:extLst>
      <p:ext uri="{BB962C8B-B14F-4D97-AF65-F5344CB8AC3E}">
        <p14:creationId xmlns:p14="http://schemas.microsoft.com/office/powerpoint/2010/main" val="19835377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797829-4A27-4CEA-80EE-A226D3E4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平票与停止原因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3E0917-CBD7-4978-AACE-C275CC278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6549B-BB6B-49A3-88EA-2E5001E8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5DF54-8A14-49B1-9467-373CB482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775" b="1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B 和 E 各得 5 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C5AEF-F2A5-4D09-A8BA-8EA057D3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5238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defPPr>
            <a:lvl1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1pPr>
            <a:lvl2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2pPr>
            <a:lvl3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3pPr>
            <a:lvl4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4pPr>
            <a:lvl5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5pPr>
            <a:lvl6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6pPr>
            <a:lvl7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7pPr>
            <a:lvl8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8pPr>
            <a:lvl9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0F6B5C"/>
                </a:solidFill>
                <a:latin typeface="Heiti SC"/>
                <a:ea typeface="Heiti SC"/>
                <a:cs typeface="Heiti SC"/>
              </a:rPr>
              <a:t>课堂默认取 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0F6B5C"/>
                </a:solidFill>
                <a:latin typeface="Heiti SC"/>
                <a:ea typeface="Heiti SC"/>
                <a:cs typeface="Heiti SC"/>
              </a:rPr>
              <a:t>平票规则与访问顺序必须一起记录。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E5D686-0494-4D80-B9B8-37D23410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809750"/>
            <a:ext cx="4667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0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stable：整轮没有变化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0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cycle：完整状态再次出现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00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limit：达到安全上限</a:t>
            </a:r>
          </a:p>
        </p:txBody>
      </p:sp>
    </p:spTree>
    <p:extLst>
      <p:ext uri="{BB962C8B-B14F-4D97-AF65-F5344CB8AC3E}">
        <p14:creationId xmlns:p14="http://schemas.microsoft.com/office/powerpoint/2010/main" val="20376207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FDE833-2D64-4091-BCC4-E702F622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EDA 中的用途与限制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27E637-E9EF-4619-9613-A7A7C6E9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9B89AA-029C-487B-877F-2F884A72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0E7A2C-52F4-4A2E-94A6-22202AAC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476375" y="1924050"/>
            <a:ext cx="209550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5639AD-0A58-4074-A9BD-D2E61808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1866900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5BE8A7-0619-4779-A435-004F62D1B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476375" y="2171700"/>
            <a:ext cx="1428750" cy="14954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51B622-4D03-4309-9C30-4C3A36CB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7384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3B249-F6BA-4ED0-9951-771E869C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905125" y="1924050"/>
            <a:ext cx="666750" cy="17430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78948C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F470C-F3A9-48C8-8D9C-399A1CA9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146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0BC19-AE8F-4420-A6B9-4AC718E3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304800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78948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40481B-8896-41A3-89B9-D6C92D4E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05213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DC0069-0F3B-42C6-86C8-87C642BEC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905375" y="3905250"/>
            <a:ext cx="1047750" cy="1381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6194">
            <a:solidFill>
              <a:srgbClr val="78948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071D74-A201-418C-B65E-054FB2D3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14838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DFCE02-825F-4077-B604-5C5AF4E9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05125" y="3667125"/>
            <a:ext cx="2000250" cy="1619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859">
            <a:solidFill>
              <a:srgbClr val="78948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238DE-004E-4043-92D2-BFC5BB73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29577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78948C"/>
                </a:solidFill>
                <a:latin typeface="Heiti SC"/>
                <a:ea typeface="Heiti SC"/>
                <a:cs typeface="Heiti SC"/>
              </a:defRPr>
            </a:pPr>
            <a:r>
              <a:rPr sz="1725" b="1">
                <a:solidFill>
                  <a:srgbClr val="78948C"/>
                </a:solidFill>
                <a:latin typeface="Heiti SC"/>
                <a:ea typeface="Heiti SC"/>
                <a:cs typeface="Heiti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E7DDCE-8A6E-4AFD-AB1A-C030DE57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050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7B7804-D2C6-43A7-810D-15A9F9BF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199072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2FC958-ED46-4B01-8607-08AA9380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51460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F328B3-5953-483B-B931-C3D3125D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573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3C6E63-DF6C-40BE-82F9-03689EF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7430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C60659-DA8C-4896-B14F-BEB6C226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669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9671DE-64D2-47F1-BE26-BFE6BB6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004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0F7966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6D29F6-18F3-4929-B7CA-802B1DE1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48615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C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4A15C1-0A81-43E1-ABCA-560414F0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01002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0F7966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0F7966"/>
                </a:solidFill>
                <a:latin typeface="Heiti SC"/>
                <a:ea typeface="Heiti SC"/>
                <a:cs typeface="Heiti SC"/>
              </a:rPr>
              <a:t>标签 B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D92151-5A5F-469A-AFF7-46AD94E3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63855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44170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91A4B3-4115-46C3-AF33-32A756D1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24275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F41B38-A6EB-454F-A168-6F04C5FD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48150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标签 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8AF07E-21AF-4033-94D0-FEE9AF4F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01967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28575">
            <a:solidFill>
              <a:srgbClr val="A4417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CA9831-FB2A-497B-A7EB-835EA02F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5105400"/>
            <a:ext cx="53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2250" b="1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C3DA59-6D15-4D51-A894-D5735613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29275"/>
            <a:ext cx="1143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defPPr>
            <a:lvl1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1pPr>
            <a:lvl2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2pPr>
            <a:lvl3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3pPr>
            <a:lvl4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4pPr>
            <a:lvl5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5pPr>
            <a:lvl6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6pPr>
            <a:lvl7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7pPr>
            <a:lvl8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8pPr>
            <a:lvl9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A44170"/>
                </a:solidFill>
                <a:latin typeface="Heiti SC"/>
                <a:ea typeface="Heiti SC"/>
                <a:cs typeface="Heiti SC"/>
              </a:defRPr>
            </a:pPr>
            <a:r>
              <a:rPr sz="1500" b="0">
                <a:solidFill>
                  <a:srgbClr val="A44170"/>
                </a:solidFill>
                <a:latin typeface="Heiti SC"/>
                <a:ea typeface="Heiti SC"/>
                <a:cs typeface="Heiti SC"/>
              </a:rPr>
              <a:t>标签 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CB55FD-D561-4846-970D-3D41EB40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762125"/>
            <a:ext cx="3952875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用途：粗化与初始社区线索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还需考虑规模和时序。</a:t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也要满足物理实现约束。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全同色时，cutsize=0。</a:t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仍可能不符合任务。</a:t>
            </a:r>
          </a:p>
        </p:txBody>
      </p:sp>
    </p:spTree>
    <p:extLst>
      <p:ext uri="{BB962C8B-B14F-4D97-AF65-F5344CB8AC3E}">
        <p14:creationId xmlns:p14="http://schemas.microsoft.com/office/powerpoint/2010/main" val="15849642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FDF0C0-ECAF-44FB-AB06-C432BED8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生活类比的边界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3977BB-0615-42E6-83C1-27BB6848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97A14C-8D03-4F0A-9F8F-FE1C466D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8824F9-7DCA-4F69-BA9C-35CFF402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45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标签依赖我们选择的数据与规则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64EA2F-BAF8-4F05-A360-A9DF2A42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10477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4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同一份连接可以有不同的解释。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4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聚类结果需要回到任务与数据中检验。</a:t>
            </a:r>
          </a:p>
        </p:txBody>
      </p:sp>
    </p:spTree>
    <p:extLst>
      <p:ext uri="{BB962C8B-B14F-4D97-AF65-F5344CB8AC3E}">
        <p14:creationId xmlns:p14="http://schemas.microsoft.com/office/powerpoint/2010/main" val="2684806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E6B103-ADDD-4679-BA09-283110BC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本次教学改进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81AD16-B083-4884-846E-9417C5E90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58C6B-EA16-45F4-83F5-ED32462C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FA884-2563-4B44-AB62-BEB33690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defPPr>
            <a:lvl1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1pPr>
            <a:lvl2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2pPr>
            <a:lvl3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3pPr>
            <a:lvl4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4pPr>
            <a:lvl5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5pPr>
            <a:lvl6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6pPr>
            <a:lvl7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7pPr>
            <a:lvl8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8pPr>
            <a:lvl9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pPr>
            <a:r>
              <a:rPr sz="2475" b="1">
                <a:solidFill>
                  <a:srgbClr val="0F6B5C"/>
                </a:solidFill>
                <a:latin typeface="Heiti SC"/>
                <a:ea typeface="Heiti SC"/>
                <a:cs typeface="Heiti SC"/>
              </a:rPr>
              <a:t>中文动画把每一句话对应到实际的图变化。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0D1A4-0AD2-41BD-9D5E-948D60CE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668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同一套算法事件连接视频、课堂例子和网页实验。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加入同步振荡、顺序对照与加权票数的反例。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习题给出解析，源码与测试支持复现。</a:t>
            </a:r>
          </a:p>
        </p:txBody>
      </p:sp>
    </p:spTree>
    <p:extLst>
      <p:ext uri="{BB962C8B-B14F-4D97-AF65-F5344CB8AC3E}">
        <p14:creationId xmlns:p14="http://schemas.microsoft.com/office/powerpoint/2010/main" val="74288966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DC2B3-0751-4725-B06E-DB81F3A9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课堂互动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03A3D6-A7F9-4662-87F5-F5ED7302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4C9AA-2909-4D6C-B345-3B22AF17C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E89B9-6DF7-476E-A8DA-DB2DCA62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4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1  预测 C 的下一标签，并说出票数。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4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2  切换同步更新，观察双节点为什么振荡。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4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4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3  改变桥边权重，比较群体与加权割边。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ECE9AF-1599-4EE4-9C45-37825B18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defPPr>
            <a:lvl1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1pPr>
            <a:lvl2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2pPr>
            <a:lvl3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3pPr>
            <a:lvl4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4pPr>
            <a:lvl5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5pPr>
            <a:lvl6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6pPr>
            <a:lvl7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7pPr>
            <a:lvl8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8pPr>
            <a:lvl9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pPr>
            <a:r>
              <a:rPr sz="1875" b="0">
                <a:solidFill>
                  <a:srgbClr val="0F6B5C"/>
                </a:solidFill>
                <a:latin typeface="Heiti SC"/>
                <a:ea typeface="Heiti SC"/>
                <a:cs typeface="Heiti SC"/>
              </a:rPr>
              <a:t>网页地址与完整使用说明见仓库 README</a:t>
            </a:r>
          </a:p>
        </p:txBody>
      </p:sp>
    </p:spTree>
    <p:extLst>
      <p:ext uri="{BB962C8B-B14F-4D97-AF65-F5344CB8AC3E}">
        <p14:creationId xmlns:p14="http://schemas.microsoft.com/office/powerpoint/2010/main" val="97843841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EF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325BF3-546C-480C-9E56-B4A090C7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defPPr>
            <a:lvl1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1pPr>
            <a:lvl2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2pPr>
            <a:lvl3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3pPr>
            <a:lvl4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4pPr>
            <a:lvl5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5pPr>
            <a:lvl6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6pPr>
            <a:lvl7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7pPr>
            <a:lvl8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8pPr>
            <a:lvl9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defRPr>
            </a:pPr>
            <a:r>
              <a:rPr sz="3300" b="1">
                <a:solidFill>
                  <a:srgbClr val="0F6B5C"/>
                </a:solidFill>
                <a:latin typeface="Songti SC"/>
                <a:ea typeface="Songti SC"/>
                <a:cs typeface="Songti SC"/>
              </a:rPr>
              <a:t>资料与复现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F4F1B4-FA39-47C5-AFD6-085FF220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Lab 05  标签传播聚类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D1C5B4-5D41-498C-95F0-18B6F706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38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defPPr>
            <a:lvl1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1pPr>
            <a:lvl2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2pPr>
            <a:lvl3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3pPr>
            <a:lvl4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4pPr>
            <a:lvl5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5pPr>
            <a:lvl6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6pPr>
            <a:lvl7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7pPr>
            <a:lvl8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8pPr>
            <a:lvl9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C675F"/>
                </a:solidFill>
                <a:latin typeface="Heiti SC"/>
                <a:ea typeface="Heiti SC"/>
                <a:cs typeface="Heiti SC"/>
              </a:defRPr>
            </a:pPr>
            <a:r>
              <a:rPr sz="1200" b="0">
                <a:solidFill>
                  <a:srgbClr val="5C675F"/>
                </a:solidFill>
                <a:latin typeface="Heiti SC"/>
                <a:ea typeface="Heiti SC"/>
                <a:cs typeface="Heiti SC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C2CCA-B00C-4DC4-8F07-9F8F8D58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课程 Lab05：README、EXAMPLES、CHECKLIST</a:t>
            </a:r>
          </a:p>
          <a:p xmlns:a="http://schemas.openxmlformats.org/drawingml/2006/main">
            <a:pPr>
              <a:defRPr sz="217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17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参考求解器与指定的 tiny_graph 数据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D26D2A-5ACE-4987-9081-516D612A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defPPr>
            <a:lvl1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1pPr>
            <a:lvl2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2pPr>
            <a:lvl3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3pPr>
            <a:lvl4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4pPr>
            <a:lvl5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5pPr>
            <a:lvl6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6pPr>
            <a:lvl7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7pPr>
            <a:lvl8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8pPr>
            <a:lvl9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02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Raghavan、Albert、Kumara（2007）</a:t>
            </a:r>
          </a:p>
          <a:p xmlns:a="http://schemas.openxmlformats.org/drawingml/2006/main">
            <a:pPr>
              <a:defRPr sz="2025" b="0">
                <a:solidFill>
                  <a:srgbClr val="1C2421"/>
                </a:solidFill>
                <a:latin typeface="Heiti SC"/>
                <a:ea typeface="Heiti SC"/>
                <a:cs typeface="Heiti SC"/>
              </a:defRPr>
            </a:pPr>
            <a:r>
              <a:rPr sz="2025" b="0">
                <a:solidFill>
                  <a:srgbClr val="1C2421"/>
                </a:solidFill>
                <a:latin typeface="Heiti SC"/>
                <a:ea typeface="Heiti SC"/>
                <a:cs typeface="Heiti SC"/>
              </a:rPr>
              <a:t>Near linear time algorithm to detect community structures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B885F4-CE2B-486A-A0B0-07C3C4EF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defPPr>
            <a:lvl1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1pPr>
            <a:lvl2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2pPr>
            <a:lvl3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3pPr>
            <a:lvl4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4pPr>
            <a:lvl5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5pPr>
            <a:lvl6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6pPr>
            <a:lvl7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7pPr>
            <a:lvl8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8pPr>
            <a:lvl9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0F6B5C"/>
                </a:solidFill>
                <a:latin typeface="Heiti SC"/>
                <a:ea typeface="Heiti SC"/>
                <a:cs typeface="Heiti SC"/>
              </a:defRPr>
            </a:pPr>
            <a:r>
              <a:rPr sz="2325" b="1">
                <a:solidFill>
                  <a:srgbClr val="0F6B5C"/>
                </a:solidFill>
                <a:latin typeface="Heiti SC"/>
                <a:ea typeface="Heiti SC"/>
                <a:cs typeface="Heiti SC"/>
              </a:rPr>
              <a:t>原创动画、配乐、课件与实验源码随仓库交付</a:t>
            </a:r>
          </a:p>
        </p:txBody>
      </p:sp>
    </p:spTree>
    <p:extLst>
      <p:ext uri="{BB962C8B-B14F-4D97-AF65-F5344CB8AC3E}">
        <p14:creationId xmlns:p14="http://schemas.microsoft.com/office/powerpoint/2010/main" val="10803954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iti SC"/>
        <a:ea typeface=""/>
        <a:cs typeface=""/>
      </a:majorFont>
      <a:minorFont>
        <a:latin typeface="Heiti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2026-10-19T16:40:49.1680000Z</dcterms:created>
  <dcterms:modified xsi:type="dcterms:W3CDTF">2026-10-19T16:40:49.1680000Z</dcterms:modified>
</coreProperties>
</file>